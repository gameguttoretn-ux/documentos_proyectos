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9850"/>
  <p:notesSz cx="9144000" cy="5149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1" d="100"/>
          <a:sy n="141" d="100"/>
        </p:scale>
        <p:origin x="744" y="2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64482" y="1652777"/>
            <a:ext cx="3728084" cy="451485"/>
          </a:xfrm>
          <a:prstGeom prst="rect">
            <a:avLst/>
          </a:prstGeom>
        </p:spPr>
        <p:txBody>
          <a:bodyPr wrap="square" lIns="0" tIns="0" rIns="0" bIns="0">
            <a:spAutoFit/>
          </a:bodyPr>
          <a:lstStyle>
            <a:lvl1pPr>
              <a:defRPr sz="2400" b="1" i="0">
                <a:solidFill>
                  <a:schemeClr val="bg1"/>
                </a:solidFill>
                <a:latin typeface="Calibri"/>
                <a:cs typeface="Calibri"/>
              </a:defRPr>
            </a:lvl1pPr>
          </a:lstStyle>
          <a:p>
            <a:endParaRPr/>
          </a:p>
        </p:txBody>
      </p:sp>
      <p:sp>
        <p:nvSpPr>
          <p:cNvPr id="3" name="Holder 3"/>
          <p:cNvSpPr>
            <a:spLocks noGrp="1"/>
          </p:cNvSpPr>
          <p:nvPr>
            <p:ph type="subTitle" idx="4"/>
          </p:nvPr>
        </p:nvSpPr>
        <p:spPr>
          <a:xfrm>
            <a:off x="4430395" y="2718054"/>
            <a:ext cx="3729990" cy="664845"/>
          </a:xfrm>
          <a:prstGeom prst="rect">
            <a:avLst/>
          </a:prstGeom>
        </p:spPr>
        <p:txBody>
          <a:bodyPr wrap="square" lIns="0" tIns="0" rIns="0" bIns="0">
            <a:spAutoFit/>
          </a:bodyPr>
          <a:lstStyle>
            <a:lvl1pPr>
              <a:defRPr sz="1400" b="0" i="0">
                <a:solidFill>
                  <a:srgbClr val="5E5C5D"/>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0" i="0">
                <a:solidFill>
                  <a:srgbClr val="5E5C5D"/>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Calibri"/>
                <a:cs typeface="Calibri"/>
              </a:defRPr>
            </a:lvl1pPr>
          </a:lstStyle>
          <a:p>
            <a:endParaRPr/>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12444" y="2028570"/>
            <a:ext cx="2448560" cy="757555"/>
          </a:xfrm>
          <a:prstGeom prst="rect">
            <a:avLst/>
          </a:prstGeom>
        </p:spPr>
        <p:txBody>
          <a:bodyPr wrap="square" lIns="0" tIns="0" rIns="0" bIns="0">
            <a:spAutoFit/>
          </a:bodyPr>
          <a:lstStyle>
            <a:lvl1pPr>
              <a:defRPr sz="2400" b="1" i="0">
                <a:solidFill>
                  <a:schemeClr val="bg1"/>
                </a:solidFill>
                <a:latin typeface="Calibri"/>
                <a:cs typeface="Calibri"/>
              </a:defRPr>
            </a:lvl1pPr>
          </a:lstStyle>
          <a:p>
            <a:endParaRPr/>
          </a:p>
        </p:txBody>
      </p:sp>
      <p:sp>
        <p:nvSpPr>
          <p:cNvPr id="3" name="Holder 3"/>
          <p:cNvSpPr>
            <a:spLocks noGrp="1"/>
          </p:cNvSpPr>
          <p:nvPr>
            <p:ph type="body" idx="1"/>
          </p:nvPr>
        </p:nvSpPr>
        <p:spPr>
          <a:xfrm>
            <a:off x="4404105" y="2420823"/>
            <a:ext cx="3728084" cy="1092200"/>
          </a:xfrm>
          <a:prstGeom prst="rect">
            <a:avLst/>
          </a:prstGeom>
        </p:spPr>
        <p:txBody>
          <a:bodyPr wrap="square" lIns="0" tIns="0" rIns="0" bIns="0">
            <a:spAutoFit/>
          </a:bodyPr>
          <a:lstStyle>
            <a:lvl1pPr>
              <a:defRPr sz="1400" b="0" i="0">
                <a:solidFill>
                  <a:srgbClr val="5E5C5D"/>
                </a:solidFill>
                <a:latin typeface="Calibri"/>
                <a:cs typeface="Calibri"/>
              </a:defRPr>
            </a:lvl1pPr>
          </a:lstStyle>
          <a:p>
            <a:endParaRPr/>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48547" y="4959502"/>
            <a:ext cx="619125" cy="146685"/>
          </a:xfrm>
          <a:prstGeom prst="rect">
            <a:avLst/>
          </a:prstGeom>
        </p:spPr>
        <p:txBody>
          <a:bodyPr vert="horz" wrap="square" lIns="0" tIns="12065" rIns="0" bIns="0" rtlCol="0">
            <a:spAutoFit/>
          </a:bodyPr>
          <a:lstStyle/>
          <a:p>
            <a:pPr marL="12700">
              <a:lnSpc>
                <a:spcPct val="100000"/>
              </a:lnSpc>
              <a:spcBef>
                <a:spcPts val="95"/>
              </a:spcBef>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62781" y="-174303"/>
            <a:ext cx="9131807" cy="5145023"/>
          </a:xfrm>
          <a:prstGeom prst="rect">
            <a:avLst/>
          </a:prstGeom>
        </p:spPr>
      </p:pic>
      <p:sp>
        <p:nvSpPr>
          <p:cNvPr id="4" name="object 4"/>
          <p:cNvSpPr txBox="1">
            <a:spLocks noGrp="1"/>
          </p:cNvSpPr>
          <p:nvPr>
            <p:ph type="title"/>
          </p:nvPr>
        </p:nvSpPr>
        <p:spPr>
          <a:xfrm>
            <a:off x="812088" y="2175763"/>
            <a:ext cx="2772410" cy="1306127"/>
          </a:xfrm>
          <a:prstGeom prst="rect">
            <a:avLst/>
          </a:prstGeom>
        </p:spPr>
        <p:txBody>
          <a:bodyPr vert="horz" wrap="square" lIns="0" tIns="13335" rIns="0" bIns="0" rtlCol="0">
            <a:spAutoFit/>
          </a:bodyPr>
          <a:lstStyle/>
          <a:p>
            <a:pPr marL="12700" marR="5080">
              <a:lnSpc>
                <a:spcPct val="100000"/>
              </a:lnSpc>
              <a:spcBef>
                <a:spcPts val="105"/>
              </a:spcBef>
            </a:pPr>
            <a:r>
              <a:rPr sz="2800" dirty="0">
                <a:solidFill>
                  <a:srgbClr val="5E5C5D"/>
                </a:solidFill>
              </a:rPr>
              <a:t>FORMULACIÓN</a:t>
            </a:r>
            <a:r>
              <a:rPr sz="2800" spc="-95" dirty="0">
                <a:solidFill>
                  <a:srgbClr val="5E5C5D"/>
                </a:solidFill>
              </a:rPr>
              <a:t> </a:t>
            </a:r>
            <a:r>
              <a:rPr sz="2800" spc="-25" dirty="0">
                <a:solidFill>
                  <a:srgbClr val="5E5C5D"/>
                </a:solidFill>
              </a:rPr>
              <a:t>DE </a:t>
            </a:r>
            <a:r>
              <a:rPr sz="2800" spc="-10" dirty="0">
                <a:solidFill>
                  <a:srgbClr val="5E5C5D"/>
                </a:solidFill>
              </a:rPr>
              <a:t>PROYECTO</a:t>
            </a:r>
            <a:r>
              <a:rPr lang="es-ES" sz="2800" spc="-10" dirty="0">
                <a:solidFill>
                  <a:srgbClr val="5E5C5D"/>
                </a:solidFill>
              </a:rPr>
              <a:t> ADSO</a:t>
            </a:r>
            <a:br>
              <a:rPr lang="es-ES" sz="2800" spc="-10" dirty="0">
                <a:solidFill>
                  <a:srgbClr val="5E5C5D"/>
                </a:solidFill>
              </a:rPr>
            </a:br>
            <a:endParaRPr sz="2800" dirty="0"/>
          </a:p>
        </p:txBody>
      </p:sp>
      <p:sp>
        <p:nvSpPr>
          <p:cNvPr id="5" name="object 4">
            <a:extLst>
              <a:ext uri="{FF2B5EF4-FFF2-40B4-BE49-F238E27FC236}">
                <a16:creationId xmlns:a16="http://schemas.microsoft.com/office/drawing/2014/main" id="{4BF7A2C1-FAA9-47AD-AE0C-6845353354CC}"/>
              </a:ext>
            </a:extLst>
          </p:cNvPr>
          <p:cNvSpPr txBox="1">
            <a:spLocks/>
          </p:cNvSpPr>
          <p:nvPr/>
        </p:nvSpPr>
        <p:spPr>
          <a:xfrm>
            <a:off x="990600" y="3427340"/>
            <a:ext cx="2772410" cy="875240"/>
          </a:xfrm>
          <a:prstGeom prst="rect">
            <a:avLst/>
          </a:prstGeom>
        </p:spPr>
        <p:txBody>
          <a:bodyPr vert="horz" wrap="square" lIns="0" tIns="13335" rIns="0" bIns="0" rtlCol="0">
            <a:spAutoFit/>
          </a:bodyPr>
          <a:lstStyle>
            <a:lvl1pPr>
              <a:defRPr sz="2400" b="1" i="0">
                <a:solidFill>
                  <a:schemeClr val="bg1"/>
                </a:solidFill>
                <a:latin typeface="Calibri"/>
                <a:ea typeface="+mj-ea"/>
                <a:cs typeface="Calibri"/>
              </a:defRPr>
            </a:lvl1pPr>
          </a:lstStyle>
          <a:p>
            <a:pPr marL="12700" marR="5080">
              <a:spcBef>
                <a:spcPts val="105"/>
              </a:spcBef>
            </a:pPr>
            <a:r>
              <a:rPr lang="es-CO" sz="2800" spc="1080" dirty="0">
                <a:solidFill>
                  <a:srgbClr val="5E5C5D"/>
                </a:solidFill>
              </a:rPr>
              <a:t>GRUPO 2</a:t>
            </a:r>
            <a:br>
              <a:rPr lang="es-CO" sz="2800" spc="-10" dirty="0">
                <a:solidFill>
                  <a:srgbClr val="5E5C5D"/>
                </a:solidFill>
              </a:rPr>
            </a:br>
            <a:endParaRPr lang="es-CO" sz="2800" dirty="0"/>
          </a:p>
        </p:txBody>
      </p:sp>
      <p:sp>
        <p:nvSpPr>
          <p:cNvPr id="6" name="Flecha: pentágono 5">
            <a:extLst>
              <a:ext uri="{FF2B5EF4-FFF2-40B4-BE49-F238E27FC236}">
                <a16:creationId xmlns:a16="http://schemas.microsoft.com/office/drawing/2014/main" id="{48E80D97-3560-41DF-A498-39F9481049DD}"/>
              </a:ext>
            </a:extLst>
          </p:cNvPr>
          <p:cNvSpPr/>
          <p:nvPr/>
        </p:nvSpPr>
        <p:spPr>
          <a:xfrm>
            <a:off x="633731" y="3399513"/>
            <a:ext cx="3124199" cy="534141"/>
          </a:xfrm>
          <a:prstGeom prst="homePlate">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CO"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48547" y="4959502"/>
            <a:ext cx="619125" cy="146685"/>
          </a:xfrm>
          <a:prstGeom prst="rect">
            <a:avLst/>
          </a:prstGeom>
        </p:spPr>
        <p:txBody>
          <a:bodyPr vert="horz" wrap="square" lIns="0" tIns="12065" rIns="0" bIns="0" rtlCol="0">
            <a:spAutoFit/>
          </a:bodyPr>
          <a:lstStyle/>
          <a:p>
            <a:pPr marL="12700">
              <a:lnSpc>
                <a:spcPct val="100000"/>
              </a:lnSpc>
              <a:spcBef>
                <a:spcPts val="95"/>
              </a:spcBef>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332206"/>
            <a:ext cx="9131807" cy="5145023"/>
          </a:xfrm>
          <a:prstGeom prst="rect">
            <a:avLst/>
          </a:prstGeom>
        </p:spPr>
      </p:pic>
      <p:sp>
        <p:nvSpPr>
          <p:cNvPr id="4" name="object 4"/>
          <p:cNvSpPr txBox="1">
            <a:spLocks noGrp="1"/>
          </p:cNvSpPr>
          <p:nvPr>
            <p:ph type="title"/>
          </p:nvPr>
        </p:nvSpPr>
        <p:spPr>
          <a:xfrm>
            <a:off x="152400" y="-100587"/>
            <a:ext cx="3759912" cy="875240"/>
          </a:xfrm>
          <a:prstGeom prst="rect">
            <a:avLst/>
          </a:prstGeom>
        </p:spPr>
        <p:txBody>
          <a:bodyPr vert="horz" wrap="square" lIns="0" tIns="13335" rIns="0" bIns="0" rtlCol="0">
            <a:spAutoFit/>
          </a:bodyPr>
          <a:lstStyle/>
          <a:p>
            <a:pPr marL="12700" marR="5080">
              <a:lnSpc>
                <a:spcPct val="100000"/>
              </a:lnSpc>
              <a:spcBef>
                <a:spcPts val="105"/>
              </a:spcBef>
            </a:pPr>
            <a:r>
              <a:rPr lang="es-ES" sz="2800" spc="-10" dirty="0">
                <a:solidFill>
                  <a:srgbClr val="5E5C5D"/>
                </a:solidFill>
              </a:rPr>
              <a:t>PERSONAL DE TRABAJO</a:t>
            </a:r>
            <a:br>
              <a:rPr lang="es-ES" sz="2800" spc="-10" dirty="0">
                <a:solidFill>
                  <a:srgbClr val="5E5C5D"/>
                </a:solidFill>
              </a:rPr>
            </a:br>
            <a:endParaRPr sz="2800" dirty="0"/>
          </a:p>
        </p:txBody>
      </p:sp>
      <p:sp>
        <p:nvSpPr>
          <p:cNvPr id="5" name="object 4">
            <a:extLst>
              <a:ext uri="{FF2B5EF4-FFF2-40B4-BE49-F238E27FC236}">
                <a16:creationId xmlns:a16="http://schemas.microsoft.com/office/drawing/2014/main" id="{4BF7A2C1-FAA9-47AD-AE0C-6845353354CC}"/>
              </a:ext>
            </a:extLst>
          </p:cNvPr>
          <p:cNvSpPr txBox="1">
            <a:spLocks/>
          </p:cNvSpPr>
          <p:nvPr/>
        </p:nvSpPr>
        <p:spPr>
          <a:xfrm>
            <a:off x="152400" y="1584325"/>
            <a:ext cx="6190593" cy="2650084"/>
          </a:xfrm>
          <a:prstGeom prst="rect">
            <a:avLst/>
          </a:prstGeom>
        </p:spPr>
        <p:txBody>
          <a:bodyPr vert="horz" wrap="square" lIns="0" tIns="13335" rIns="0" bIns="0" rtlCol="0">
            <a:spAutoFit/>
          </a:bodyPr>
          <a:lstStyle>
            <a:lvl1pPr>
              <a:defRPr sz="2400" b="1" i="0">
                <a:solidFill>
                  <a:schemeClr val="bg1"/>
                </a:solidFill>
                <a:latin typeface="Calibri"/>
                <a:ea typeface="+mj-ea"/>
                <a:cs typeface="Calibri"/>
              </a:defRPr>
            </a:lvl1pPr>
          </a:lstStyle>
          <a:p>
            <a:pPr marL="469900" marR="5080" indent="-457200">
              <a:spcBef>
                <a:spcPts val="105"/>
              </a:spcBef>
              <a:buFont typeface="Wingdings" panose="05000000000000000000" pitchFamily="2" charset="2"/>
              <a:buChar char="Ø"/>
            </a:pPr>
            <a:r>
              <a:rPr lang="es-CO" sz="2800" spc="-10" dirty="0">
                <a:solidFill>
                  <a:srgbClr val="5E5C5D"/>
                </a:solidFill>
              </a:rPr>
              <a:t>DAVID ESTIVEN ROJAS PAEZ</a:t>
            </a:r>
          </a:p>
          <a:p>
            <a:pPr marL="469900" marR="5080" indent="-457200">
              <a:spcBef>
                <a:spcPts val="105"/>
              </a:spcBef>
              <a:buFont typeface="Wingdings" panose="05000000000000000000" pitchFamily="2" charset="2"/>
              <a:buChar char="Ø"/>
            </a:pPr>
            <a:r>
              <a:rPr lang="es-CO" sz="2800" spc="-10" dirty="0">
                <a:solidFill>
                  <a:srgbClr val="5E5C5D"/>
                </a:solidFill>
              </a:rPr>
              <a:t>JOSE ENOC BARRETO</a:t>
            </a:r>
          </a:p>
          <a:p>
            <a:pPr marL="469900" marR="5080" indent="-457200">
              <a:spcBef>
                <a:spcPts val="105"/>
              </a:spcBef>
              <a:buFont typeface="Wingdings" panose="05000000000000000000" pitchFamily="2" charset="2"/>
              <a:buChar char="Ø"/>
            </a:pPr>
            <a:r>
              <a:rPr lang="es-CO" sz="2800" spc="-10" dirty="0">
                <a:solidFill>
                  <a:srgbClr val="5E5C5D"/>
                </a:solidFill>
              </a:rPr>
              <a:t>DUVAN ANDRES PATIÑO ALVAREZ</a:t>
            </a:r>
          </a:p>
          <a:p>
            <a:pPr marL="469900" marR="5080" indent="-457200">
              <a:spcBef>
                <a:spcPts val="105"/>
              </a:spcBef>
              <a:buFont typeface="Wingdings" panose="05000000000000000000" pitchFamily="2" charset="2"/>
              <a:buChar char="Ø"/>
            </a:pPr>
            <a:r>
              <a:rPr lang="es-CO" sz="2800" spc="-10" dirty="0">
                <a:solidFill>
                  <a:srgbClr val="5E5C5D"/>
                </a:solidFill>
              </a:rPr>
              <a:t>JUAN NICOLAS SUAREZ RODRIGUEZ</a:t>
            </a:r>
          </a:p>
          <a:p>
            <a:pPr marL="469900" marR="5080" indent="-457200">
              <a:spcBef>
                <a:spcPts val="105"/>
              </a:spcBef>
              <a:buFont typeface="Wingdings" panose="05000000000000000000" pitchFamily="2" charset="2"/>
              <a:buChar char="Ø"/>
            </a:pPr>
            <a:r>
              <a:rPr lang="es-CO" sz="2800" spc="-10" dirty="0">
                <a:solidFill>
                  <a:srgbClr val="5E5C5D"/>
                </a:solidFill>
              </a:rPr>
              <a:t>OBED DAVID VEGA YATE</a:t>
            </a:r>
            <a:br>
              <a:rPr lang="es-CO" sz="2800" spc="-10" dirty="0">
                <a:solidFill>
                  <a:srgbClr val="5E5C5D"/>
                </a:solidFill>
              </a:rPr>
            </a:br>
            <a:endParaRPr lang="es-CO" sz="2800" dirty="0"/>
          </a:p>
        </p:txBody>
      </p:sp>
      <p:sp>
        <p:nvSpPr>
          <p:cNvPr id="6" name="Flecha: pentágono 5">
            <a:extLst>
              <a:ext uri="{FF2B5EF4-FFF2-40B4-BE49-F238E27FC236}">
                <a16:creationId xmlns:a16="http://schemas.microsoft.com/office/drawing/2014/main" id="{48E80D97-3560-41DF-A498-39F9481049DD}"/>
              </a:ext>
            </a:extLst>
          </p:cNvPr>
          <p:cNvSpPr/>
          <p:nvPr/>
        </p:nvSpPr>
        <p:spPr>
          <a:xfrm>
            <a:off x="152400" y="-100587"/>
            <a:ext cx="3962400" cy="534141"/>
          </a:xfrm>
          <a:prstGeom prst="homePlat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412177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48547" y="4959502"/>
            <a:ext cx="619125" cy="146685"/>
          </a:xfrm>
          <a:prstGeom prst="rect">
            <a:avLst/>
          </a:prstGeom>
        </p:spPr>
        <p:txBody>
          <a:bodyPr vert="horz" wrap="square" lIns="0" tIns="12065" rIns="0" bIns="0" rtlCol="0">
            <a:spAutoFit/>
          </a:bodyPr>
          <a:lstStyle/>
          <a:p>
            <a:pPr marL="12700">
              <a:lnSpc>
                <a:spcPct val="100000"/>
              </a:lnSpc>
              <a:spcBef>
                <a:spcPts val="95"/>
              </a:spcBef>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1" y="-10042"/>
            <a:ext cx="9143999" cy="5145023"/>
          </a:xfrm>
          <a:prstGeom prst="rect">
            <a:avLst/>
          </a:prstGeom>
        </p:spPr>
      </p:pic>
      <p:sp>
        <p:nvSpPr>
          <p:cNvPr id="4" name="object 4"/>
          <p:cNvSpPr txBox="1"/>
          <p:nvPr/>
        </p:nvSpPr>
        <p:spPr>
          <a:xfrm>
            <a:off x="612444" y="2028570"/>
            <a:ext cx="2054556" cy="382156"/>
          </a:xfrm>
          <a:prstGeom prst="rect">
            <a:avLst/>
          </a:prstGeom>
        </p:spPr>
        <p:txBody>
          <a:bodyPr vert="horz" wrap="square" lIns="0" tIns="12700" rIns="0" bIns="0" rtlCol="0">
            <a:spAutoFit/>
          </a:bodyPr>
          <a:lstStyle/>
          <a:p>
            <a:pPr marL="12700" marR="5080">
              <a:lnSpc>
                <a:spcPct val="100000"/>
              </a:lnSpc>
              <a:spcBef>
                <a:spcPts val="100"/>
              </a:spcBef>
            </a:pPr>
            <a:r>
              <a:rPr lang="es-ES" sz="2400" dirty="0">
                <a:solidFill>
                  <a:schemeClr val="bg1"/>
                </a:solidFill>
                <a:latin typeface="Calibri"/>
                <a:cs typeface="Calibri"/>
              </a:rPr>
              <a:t>Chekinpro</a:t>
            </a:r>
            <a:endParaRPr lang="es-CO" sz="2400" dirty="0">
              <a:solidFill>
                <a:schemeClr val="bg1"/>
              </a:solidFill>
              <a:latin typeface="Calibri"/>
              <a:cs typeface="Calibri"/>
            </a:endParaRP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9" name="object 9"/>
          <p:cNvSpPr txBox="1"/>
          <p:nvPr/>
        </p:nvSpPr>
        <p:spPr>
          <a:xfrm>
            <a:off x="4572000" y="568286"/>
            <a:ext cx="3731895" cy="4013278"/>
          </a:xfrm>
          <a:prstGeom prst="rect">
            <a:avLst/>
          </a:prstGeom>
        </p:spPr>
        <p:txBody>
          <a:bodyPr vert="horz" wrap="square" lIns="0" tIns="12065" rIns="0" bIns="0" rtlCol="0">
            <a:spAutoFit/>
          </a:bodyPr>
          <a:lstStyle/>
          <a:p>
            <a:pPr marL="12700" marR="5080" algn="just">
              <a:lnSpc>
                <a:spcPct val="100000"/>
              </a:lnSpc>
              <a:spcBef>
                <a:spcPts val="95"/>
              </a:spcBef>
            </a:pPr>
            <a:r>
              <a:rPr lang="es-ES" sz="2000" dirty="0">
                <a:latin typeface="Calibri"/>
                <a:cs typeface="Calibri"/>
              </a:rPr>
              <a:t>El software a desarrollar se realizará para dar solución a la gestión hotelera que llevara a cabo en algunos hoteles, en muchos hoteles se maneja un sistema inadecuado para su gestión, lo que lleva a una problemática para los hoteles, dichos problemas como perdida de reservas, devoluciones de capital, perdida de información. Este software promete gestionar cualquier hotel de una forma segura y organizada.</a:t>
            </a:r>
            <a:endParaRPr sz="20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61247" y="4997424"/>
            <a:ext cx="593725" cy="100965"/>
          </a:xfrm>
          <a:prstGeom prst="rect">
            <a:avLst/>
          </a:prstGeom>
        </p:spPr>
        <p:txBody>
          <a:bodyPr vert="horz" wrap="square" lIns="0" tIns="0" rIns="0" bIns="0" rtlCol="0">
            <a:spAutoFit/>
          </a:bodyPr>
          <a:lstStyle/>
          <a:p>
            <a:pPr>
              <a:lnSpc>
                <a:spcPts val="755"/>
              </a:lnSpc>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37904" cy="5145022"/>
          </a:xfrm>
          <a:prstGeom prst="rect">
            <a:avLst/>
          </a:prstGeom>
        </p:spPr>
      </p:pic>
      <p:sp>
        <p:nvSpPr>
          <p:cNvPr id="4" name="object 4"/>
          <p:cNvSpPr txBox="1"/>
          <p:nvPr/>
        </p:nvSpPr>
        <p:spPr>
          <a:xfrm>
            <a:off x="612444" y="2028570"/>
            <a:ext cx="2419985" cy="757555"/>
          </a:xfrm>
          <a:prstGeom prst="rect">
            <a:avLst/>
          </a:prstGeom>
        </p:spPr>
        <p:txBody>
          <a:bodyPr vert="horz" wrap="square" lIns="0" tIns="12700" rIns="0" bIns="0" rtlCol="0">
            <a:spAutoFit/>
          </a:bodyPr>
          <a:lstStyle/>
          <a:p>
            <a:pPr marL="12700" marR="5080">
              <a:lnSpc>
                <a:spcPct val="100000"/>
              </a:lnSpc>
              <a:spcBef>
                <a:spcPts val="100"/>
              </a:spcBef>
            </a:pPr>
            <a:r>
              <a:rPr sz="2400" b="1" spc="-10" dirty="0">
                <a:solidFill>
                  <a:srgbClr val="FFFFFF"/>
                </a:solidFill>
                <a:latin typeface="Calibri"/>
                <a:cs typeface="Calibri"/>
              </a:rPr>
              <a:t>CARACTERIZACIÓN </a:t>
            </a:r>
            <a:r>
              <a:rPr sz="2400" b="1" dirty="0">
                <a:solidFill>
                  <a:srgbClr val="FFFFFF"/>
                </a:solidFill>
                <a:latin typeface="Calibri"/>
                <a:cs typeface="Calibri"/>
              </a:rPr>
              <a:t>DE</a:t>
            </a:r>
            <a:r>
              <a:rPr lang="es-ES" sz="2400" b="1" dirty="0">
                <a:solidFill>
                  <a:srgbClr val="FFFFFF"/>
                </a:solidFill>
                <a:latin typeface="Calibri"/>
                <a:cs typeface="Calibri"/>
              </a:rPr>
              <a:t> “</a:t>
            </a:r>
            <a:r>
              <a:rPr lang="es-ES" sz="2400" dirty="0">
                <a:solidFill>
                  <a:schemeClr val="bg1"/>
                </a:solidFill>
                <a:latin typeface="Calibri"/>
                <a:cs typeface="Calibri"/>
              </a:rPr>
              <a:t>Chekinpro</a:t>
            </a:r>
            <a:r>
              <a:rPr lang="es-ES" sz="2400" b="1" dirty="0">
                <a:solidFill>
                  <a:srgbClr val="FFFFFF"/>
                </a:solidFill>
                <a:latin typeface="Calibri"/>
                <a:cs typeface="Calibri"/>
              </a:rPr>
              <a:t>”</a:t>
            </a:r>
            <a:endParaRPr sz="2400" dirty="0">
              <a:latin typeface="Calibri"/>
              <a:cs typeface="Calibri"/>
            </a:endParaRP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p:nvPr/>
        </p:nvSpPr>
        <p:spPr>
          <a:xfrm>
            <a:off x="4338320" y="378968"/>
            <a:ext cx="3727450" cy="634789"/>
          </a:xfrm>
          <a:prstGeom prst="rect">
            <a:avLst/>
          </a:prstGeom>
        </p:spPr>
        <p:txBody>
          <a:bodyPr vert="horz" wrap="square" lIns="0" tIns="11430" rIns="0" bIns="0" rtlCol="0">
            <a:spAutoFit/>
          </a:bodyPr>
          <a:lstStyle/>
          <a:p>
            <a:pPr>
              <a:lnSpc>
                <a:spcPct val="100000"/>
              </a:lnSpc>
              <a:spcBef>
                <a:spcPts val="35"/>
              </a:spcBef>
            </a:pPr>
            <a:r>
              <a:rPr lang="es-ES" sz="1350" b="1" dirty="0">
                <a:solidFill>
                  <a:schemeClr val="accent6">
                    <a:lumMod val="75000"/>
                  </a:schemeClr>
                </a:solidFill>
                <a:latin typeface="Calibri"/>
                <a:cs typeface="Calibri"/>
              </a:rPr>
              <a:t>CUAL ES UNO DE LOS MAYORES PROBLEMAS DE LOS HOTELES QUE NO MANEJAN UN SISTEMA DE ADMINISTRACION?</a:t>
            </a:r>
            <a:endParaRPr sz="1350" b="1" dirty="0">
              <a:solidFill>
                <a:schemeClr val="accent6">
                  <a:lumMod val="75000"/>
                </a:schemeClr>
              </a:solidFill>
              <a:latin typeface="Calibri"/>
              <a:cs typeface="Calibri"/>
            </a:endParaRPr>
          </a:p>
        </p:txBody>
      </p:sp>
      <p:sp>
        <p:nvSpPr>
          <p:cNvPr id="7" name="object 7"/>
          <p:cNvSpPr txBox="1"/>
          <p:nvPr/>
        </p:nvSpPr>
        <p:spPr>
          <a:xfrm>
            <a:off x="4338320" y="1659762"/>
            <a:ext cx="3727450" cy="657872"/>
          </a:xfrm>
          <a:prstGeom prst="rect">
            <a:avLst/>
          </a:prstGeom>
        </p:spPr>
        <p:txBody>
          <a:bodyPr vert="horz" wrap="square" lIns="0" tIns="11430" rIns="0" bIns="0" rtlCol="0">
            <a:spAutoFit/>
          </a:bodyPr>
          <a:lstStyle/>
          <a:p>
            <a:pPr marL="12700" marR="5080" algn="just">
              <a:lnSpc>
                <a:spcPct val="100000"/>
              </a:lnSpc>
              <a:spcBef>
                <a:spcPts val="90"/>
              </a:spcBef>
            </a:pPr>
            <a:r>
              <a:rPr lang="es-ES" sz="1400" dirty="0">
                <a:solidFill>
                  <a:srgbClr val="5E5C5D"/>
                </a:solidFill>
                <a:latin typeface="Calibri"/>
                <a:cs typeface="Calibri"/>
              </a:rPr>
              <a:t>Una de las mayores problemáticas de los hoteles de bajos recursos es el bajo manejo de los datos de los usuarios en el hotel</a:t>
            </a:r>
            <a:r>
              <a:rPr lang="es-ES" sz="1400" spc="-10" dirty="0">
                <a:solidFill>
                  <a:srgbClr val="5E5C5D"/>
                </a:solidFill>
                <a:latin typeface="Calibri"/>
                <a:cs typeface="Calibri"/>
              </a:rPr>
              <a:t>.</a:t>
            </a:r>
            <a:endParaRPr lang="es-ES" sz="1400" dirty="0">
              <a:latin typeface="Calibri"/>
              <a:cs typeface="Calibri"/>
            </a:endParaRPr>
          </a:p>
        </p:txBody>
      </p:sp>
      <p:sp>
        <p:nvSpPr>
          <p:cNvPr id="8" name="object 8"/>
          <p:cNvSpPr txBox="1"/>
          <p:nvPr/>
        </p:nvSpPr>
        <p:spPr>
          <a:xfrm>
            <a:off x="4338320" y="2513838"/>
            <a:ext cx="3728085" cy="873316"/>
          </a:xfrm>
          <a:prstGeom prst="rect">
            <a:avLst/>
          </a:prstGeom>
        </p:spPr>
        <p:txBody>
          <a:bodyPr vert="horz" wrap="square" lIns="0" tIns="11430" rIns="0" bIns="0" rtlCol="0">
            <a:spAutoFit/>
          </a:bodyPr>
          <a:lstStyle/>
          <a:p>
            <a:pPr marL="12700" marR="6350" algn="just">
              <a:lnSpc>
                <a:spcPct val="100000"/>
              </a:lnSpc>
              <a:spcBef>
                <a:spcPts val="90"/>
              </a:spcBef>
            </a:pPr>
            <a:r>
              <a:rPr lang="es-ES" sz="1400" dirty="0">
                <a:solidFill>
                  <a:srgbClr val="5E5C5D"/>
                </a:solidFill>
                <a:latin typeface="Calibri"/>
                <a:cs typeface="Calibri"/>
              </a:rPr>
              <a:t>Al manejar los registros en cuaderno o agenda hay una perdida o demora en los accesos a los datos de los usuarios, a lo cual puede generar inconformidad, perdida de ganancia y de usuarios</a:t>
            </a:r>
          </a:p>
        </p:txBody>
      </p:sp>
      <p:sp>
        <p:nvSpPr>
          <p:cNvPr id="9" name="object 9"/>
          <p:cNvSpPr txBox="1"/>
          <p:nvPr/>
        </p:nvSpPr>
        <p:spPr>
          <a:xfrm>
            <a:off x="4338320" y="4221581"/>
            <a:ext cx="3724910" cy="657872"/>
          </a:xfrm>
          <a:prstGeom prst="rect">
            <a:avLst/>
          </a:prstGeom>
        </p:spPr>
        <p:txBody>
          <a:bodyPr vert="horz" wrap="square" lIns="0" tIns="11430" rIns="0" bIns="0" rtlCol="0">
            <a:spAutoFit/>
          </a:bodyPr>
          <a:lstStyle/>
          <a:p>
            <a:pPr marL="12700" marR="5080">
              <a:lnSpc>
                <a:spcPct val="100000"/>
              </a:lnSpc>
              <a:spcBef>
                <a:spcPts val="90"/>
              </a:spcBef>
            </a:pPr>
            <a:r>
              <a:rPr lang="es-ES" sz="1400" dirty="0">
                <a:solidFill>
                  <a:srgbClr val="5E5C5D"/>
                </a:solidFill>
                <a:latin typeface="Calibri"/>
                <a:cs typeface="Calibri"/>
              </a:rPr>
              <a:t>INNOVASTAY ayudara a esos hoteles que no tienen una base de datos o un sistema de administración en la nube. </a:t>
            </a:r>
            <a:endParaRPr sz="14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48547" y="4959502"/>
            <a:ext cx="619125" cy="146685"/>
          </a:xfrm>
          <a:prstGeom prst="rect">
            <a:avLst/>
          </a:prstGeom>
        </p:spPr>
        <p:txBody>
          <a:bodyPr vert="horz" wrap="square" lIns="0" tIns="12065" rIns="0" bIns="0" rtlCol="0">
            <a:spAutoFit/>
          </a:bodyPr>
          <a:lstStyle/>
          <a:p>
            <a:pPr marL="12700">
              <a:lnSpc>
                <a:spcPct val="100000"/>
              </a:lnSpc>
              <a:spcBef>
                <a:spcPts val="95"/>
              </a:spcBef>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43999" cy="5145023"/>
          </a:xfrm>
          <a:prstGeom prst="rect">
            <a:avLst/>
          </a:prstGeom>
        </p:spPr>
      </p:pic>
      <p:sp>
        <p:nvSpPr>
          <p:cNvPr id="4" name="object 4"/>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dirty="0"/>
              <a:t>JUSTIFICACIÓN</a:t>
            </a:r>
            <a:r>
              <a:rPr spc="-95" dirty="0"/>
              <a:t> </a:t>
            </a:r>
            <a:r>
              <a:rPr spc="-25" dirty="0"/>
              <a:t>DEL </a:t>
            </a:r>
            <a:r>
              <a:rPr spc="-10" dirty="0"/>
              <a:t>PROYECTO</a:t>
            </a: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p:nvPr/>
        </p:nvSpPr>
        <p:spPr>
          <a:xfrm>
            <a:off x="4305427" y="1497583"/>
            <a:ext cx="3726179" cy="657872"/>
          </a:xfrm>
          <a:prstGeom prst="rect">
            <a:avLst/>
          </a:prstGeom>
        </p:spPr>
        <p:txBody>
          <a:bodyPr vert="horz" wrap="square" lIns="0" tIns="11430" rIns="0" bIns="0" rtlCol="0">
            <a:spAutoFit/>
          </a:bodyPr>
          <a:lstStyle/>
          <a:p>
            <a:pPr marL="12700" marR="5080" algn="just">
              <a:lnSpc>
                <a:spcPct val="100000"/>
              </a:lnSpc>
              <a:spcBef>
                <a:spcPts val="90"/>
              </a:spcBef>
            </a:pPr>
            <a:r>
              <a:rPr lang="es-ES" sz="1400" dirty="0">
                <a:solidFill>
                  <a:schemeClr val="tx1"/>
                </a:solidFill>
                <a:latin typeface="Calibri"/>
                <a:cs typeface="Calibri"/>
              </a:rPr>
              <a:t>Chekinpro</a:t>
            </a:r>
            <a:r>
              <a:rPr lang="es-ES" sz="1400" spc="-10" dirty="0">
                <a:solidFill>
                  <a:srgbClr val="5E5C5D"/>
                </a:solidFill>
                <a:latin typeface="Calibri"/>
                <a:cs typeface="Calibri"/>
              </a:rPr>
              <a:t> con su software ayuda a aquellos hoteles q tienen una gran deficiencia en el manejo de reservas, datos, y demás,</a:t>
            </a:r>
            <a:r>
              <a:rPr sz="1400" spc="-10" dirty="0">
                <a:solidFill>
                  <a:srgbClr val="5E5C5D"/>
                </a:solidFill>
                <a:latin typeface="Calibri"/>
                <a:cs typeface="Calibri"/>
              </a:rPr>
              <a:t>.</a:t>
            </a:r>
            <a:endParaRPr sz="1400" dirty="0">
              <a:latin typeface="Calibri"/>
              <a:cs typeface="Calibri"/>
            </a:endParaRPr>
          </a:p>
        </p:txBody>
      </p:sp>
      <p:sp>
        <p:nvSpPr>
          <p:cNvPr id="7" name="object 7"/>
          <p:cNvSpPr txBox="1"/>
          <p:nvPr/>
        </p:nvSpPr>
        <p:spPr>
          <a:xfrm>
            <a:off x="4305427" y="2565019"/>
            <a:ext cx="3726815" cy="873316"/>
          </a:xfrm>
          <a:prstGeom prst="rect">
            <a:avLst/>
          </a:prstGeom>
        </p:spPr>
        <p:txBody>
          <a:bodyPr vert="horz" wrap="square" lIns="0" tIns="11430" rIns="0" bIns="0" rtlCol="0">
            <a:spAutoFit/>
          </a:bodyPr>
          <a:lstStyle/>
          <a:p>
            <a:pPr marL="12700" marR="5080" algn="just">
              <a:lnSpc>
                <a:spcPct val="100000"/>
              </a:lnSpc>
              <a:spcBef>
                <a:spcPts val="90"/>
              </a:spcBef>
            </a:pPr>
            <a:r>
              <a:rPr lang="es-ES" sz="1400" dirty="0">
                <a:solidFill>
                  <a:srgbClr val="5E5C5D"/>
                </a:solidFill>
                <a:latin typeface="Calibri"/>
                <a:cs typeface="Calibri"/>
              </a:rPr>
              <a:t>Ayudando a facilitar el trabajo habitual y hacerlo mas fácil y seguro, ayudado a la satisfacción del usuario, facilitando el encuentro de datos y registros de datos de las habitaciones</a:t>
            </a:r>
            <a:r>
              <a:rPr lang="es-ES" sz="1400" spc="-20" dirty="0">
                <a:solidFill>
                  <a:srgbClr val="5E5C5D"/>
                </a:solidFill>
                <a:latin typeface="Calibri"/>
                <a:cs typeface="Calibri"/>
              </a:rPr>
              <a:t>.</a:t>
            </a:r>
            <a:endParaRPr lang="es-ES" sz="14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61247" y="4997424"/>
            <a:ext cx="593725" cy="100965"/>
          </a:xfrm>
          <a:prstGeom prst="rect">
            <a:avLst/>
          </a:prstGeom>
        </p:spPr>
        <p:txBody>
          <a:bodyPr vert="horz" wrap="square" lIns="0" tIns="0" rIns="0" bIns="0" rtlCol="0">
            <a:spAutoFit/>
          </a:bodyPr>
          <a:lstStyle/>
          <a:p>
            <a:pPr>
              <a:lnSpc>
                <a:spcPts val="755"/>
              </a:lnSpc>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46737"/>
            <a:ext cx="9137904" cy="5145022"/>
          </a:xfrm>
          <a:prstGeom prst="rect">
            <a:avLst/>
          </a:prstGeom>
        </p:spPr>
      </p:pic>
      <p:sp>
        <p:nvSpPr>
          <p:cNvPr id="4" name="object 4"/>
          <p:cNvSpPr txBox="1"/>
          <p:nvPr/>
        </p:nvSpPr>
        <p:spPr>
          <a:xfrm>
            <a:off x="612444" y="2028570"/>
            <a:ext cx="251396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Calibri"/>
                <a:cs typeface="Calibri"/>
              </a:rPr>
              <a:t>OBJETIVO</a:t>
            </a:r>
            <a:r>
              <a:rPr sz="2400" b="1" spc="-65" dirty="0">
                <a:solidFill>
                  <a:srgbClr val="FFFFFF"/>
                </a:solidFill>
                <a:latin typeface="Calibri"/>
                <a:cs typeface="Calibri"/>
              </a:rPr>
              <a:t> </a:t>
            </a:r>
            <a:r>
              <a:rPr sz="2400" b="1" spc="-10" dirty="0">
                <a:solidFill>
                  <a:srgbClr val="FFFFFF"/>
                </a:solidFill>
                <a:latin typeface="Calibri"/>
                <a:cs typeface="Calibri"/>
              </a:rPr>
              <a:t>GENERAL</a:t>
            </a:r>
            <a:endParaRPr sz="2400">
              <a:latin typeface="Calibri"/>
              <a:cs typeface="Calibri"/>
            </a:endParaRP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a:spLocks noGrp="1"/>
          </p:cNvSpPr>
          <p:nvPr>
            <p:ph type="title"/>
          </p:nvPr>
        </p:nvSpPr>
        <p:spPr>
          <a:xfrm>
            <a:off x="4338320" y="378968"/>
            <a:ext cx="3727450" cy="719428"/>
          </a:xfrm>
          <a:prstGeom prst="rect">
            <a:avLst/>
          </a:prstGeom>
        </p:spPr>
        <p:txBody>
          <a:bodyPr vert="horz" wrap="square" lIns="0" tIns="11430" rIns="0" bIns="0" rtlCol="0">
            <a:spAutoFit/>
          </a:bodyPr>
          <a:lstStyle/>
          <a:p>
            <a:pPr marL="12700" marR="5080" algn="just">
              <a:spcBef>
                <a:spcPts val="90"/>
              </a:spcBef>
            </a:pPr>
            <a:r>
              <a:rPr lang="es-ES" sz="3200" dirty="0">
                <a:solidFill>
                  <a:schemeClr val="tx1"/>
                </a:solidFill>
                <a:latin typeface="Calibri"/>
                <a:cs typeface="Calibri"/>
              </a:rPr>
              <a:t>Chekinpro</a:t>
            </a:r>
            <a:br>
              <a:rPr lang="es-CO" sz="1400" dirty="0">
                <a:solidFill>
                  <a:schemeClr val="bg1"/>
                </a:solidFill>
                <a:latin typeface="Calibri"/>
                <a:cs typeface="Calibri"/>
              </a:rPr>
            </a:br>
            <a:endParaRPr sz="1400" dirty="0">
              <a:latin typeface="Calibri"/>
              <a:cs typeface="Calibri"/>
            </a:endParaRPr>
          </a:p>
        </p:txBody>
      </p:sp>
      <p:sp>
        <p:nvSpPr>
          <p:cNvPr id="7" name="object 7"/>
          <p:cNvSpPr txBox="1"/>
          <p:nvPr/>
        </p:nvSpPr>
        <p:spPr>
          <a:xfrm>
            <a:off x="4338320" y="1232661"/>
            <a:ext cx="3731895" cy="2812308"/>
          </a:xfrm>
          <a:prstGeom prst="rect">
            <a:avLst/>
          </a:prstGeom>
        </p:spPr>
        <p:txBody>
          <a:bodyPr vert="horz" wrap="square" lIns="0" tIns="11430" rIns="0" bIns="0" rtlCol="0">
            <a:spAutoFit/>
          </a:bodyPr>
          <a:lstStyle/>
          <a:p>
            <a:pPr marL="12700" marR="5080" algn="just">
              <a:lnSpc>
                <a:spcPct val="100000"/>
              </a:lnSpc>
              <a:spcBef>
                <a:spcPts val="90"/>
              </a:spcBef>
            </a:pPr>
            <a:r>
              <a:rPr lang="es-ES" sz="1400" dirty="0">
                <a:latin typeface="Calibri"/>
                <a:cs typeface="Calibri"/>
              </a:rPr>
              <a:t> El objetivo general de nuestro proyecto es brindar  al usuario una experiencia rápida, eficaz, tecnológica  y segura   a la hora de administrar un hotel, se dará una solución a todos los hoteles que no cuenten con un sistema de base de datos en un sistema de información, este proceso mejorará de manera inmediata la gestión administrativa de cualquier hotel, mejorando asi sus servicios y la calidad del servicio para sus huéspedes y sus empleados, Nuestro software será capaz de gestionar tareas diarias que realice el hotel, lo mas importante nuestro software estará disponible para cualquier hotel.</a:t>
            </a:r>
            <a:endParaRPr sz="14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61247" y="4997424"/>
            <a:ext cx="593725" cy="100965"/>
          </a:xfrm>
          <a:prstGeom prst="rect">
            <a:avLst/>
          </a:prstGeom>
        </p:spPr>
        <p:txBody>
          <a:bodyPr vert="horz" wrap="square" lIns="0" tIns="0" rIns="0" bIns="0" rtlCol="0">
            <a:spAutoFit/>
          </a:bodyPr>
          <a:lstStyle/>
          <a:p>
            <a:pPr>
              <a:lnSpc>
                <a:spcPts val="755"/>
              </a:lnSpc>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37904" cy="5145022"/>
          </a:xfrm>
          <a:prstGeom prst="rect">
            <a:avLst/>
          </a:prstGeom>
        </p:spPr>
      </p:pic>
      <p:sp>
        <p:nvSpPr>
          <p:cNvPr id="4" name="object 4"/>
          <p:cNvSpPr txBox="1"/>
          <p:nvPr/>
        </p:nvSpPr>
        <p:spPr>
          <a:xfrm>
            <a:off x="612444" y="2028570"/>
            <a:ext cx="1598930" cy="757555"/>
          </a:xfrm>
          <a:prstGeom prst="rect">
            <a:avLst/>
          </a:prstGeom>
        </p:spPr>
        <p:txBody>
          <a:bodyPr vert="horz" wrap="square" lIns="0" tIns="12700" rIns="0" bIns="0" rtlCol="0">
            <a:spAutoFit/>
          </a:bodyPr>
          <a:lstStyle/>
          <a:p>
            <a:pPr marL="12700" marR="5080">
              <a:lnSpc>
                <a:spcPct val="100000"/>
              </a:lnSpc>
              <a:spcBef>
                <a:spcPts val="100"/>
              </a:spcBef>
            </a:pPr>
            <a:r>
              <a:rPr sz="2400" b="1" spc="-10" dirty="0">
                <a:solidFill>
                  <a:srgbClr val="FFFFFF"/>
                </a:solidFill>
                <a:latin typeface="Calibri"/>
                <a:cs typeface="Calibri"/>
              </a:rPr>
              <a:t>OBJETIVOS ESPECÍFICOS</a:t>
            </a:r>
            <a:endParaRPr sz="2400">
              <a:latin typeface="Calibri"/>
              <a:cs typeface="Calibri"/>
            </a:endParaRP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p:nvPr/>
        </p:nvSpPr>
        <p:spPr>
          <a:xfrm>
            <a:off x="4568952" y="0"/>
            <a:ext cx="3726815" cy="5831725"/>
          </a:xfrm>
          <a:prstGeom prst="rect">
            <a:avLst/>
          </a:prstGeom>
        </p:spPr>
        <p:txBody>
          <a:bodyPr vert="horz" wrap="square" lIns="0" tIns="12065" rIns="0" bIns="0" rtlCol="0">
            <a:spAutoFit/>
          </a:bodyPr>
          <a:lstStyle/>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Hallar la problemática del hotel al cual se le dará una solución.</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Realizar una lista con estas problemáticas.</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Elegir la metodología para el desarrollo del software.</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Realizar una lista con las tareas a realizar en el equipo de trabajo.</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Dividir las tareas en el equipo.</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Llevar una chesk-list de las tareas realizadas.</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Implementar la documentación del software y sus requisitos y funcionalidades.</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Decidir el tipo de software a realizar.</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Implementar la estructura del software.</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Implementar el diseño del software.</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Escribir el código según las especificaciones.</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Realizar el prototipo del software.</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Realizar la prueba del software.</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Desplegar el software al entorno de producción.</a:t>
            </a:r>
          </a:p>
          <a:p>
            <a:pPr marL="298450" marR="5080" indent="-285750" algn="just">
              <a:lnSpc>
                <a:spcPct val="100000"/>
              </a:lnSpc>
              <a:spcBef>
                <a:spcPts val="95"/>
              </a:spcBef>
              <a:buFont typeface="Wingdings" panose="05000000000000000000" pitchFamily="2" charset="2"/>
              <a:buChar char="v"/>
            </a:pPr>
            <a:r>
              <a:rPr lang="es-ES" sz="1400" dirty="0">
                <a:latin typeface="Calibri"/>
                <a:cs typeface="Calibri"/>
              </a:rPr>
              <a:t>Brindar una ayuda a los hoteles por medio de nuestro software, brindando una alternativa para el manejo eficiente de datos y recursos del hotel.</a:t>
            </a:r>
          </a:p>
          <a:p>
            <a:pPr marL="298450" marR="5080" indent="-285750" algn="just">
              <a:lnSpc>
                <a:spcPct val="100000"/>
              </a:lnSpc>
              <a:spcBef>
                <a:spcPts val="95"/>
              </a:spcBef>
              <a:buFont typeface="Wingdings" panose="05000000000000000000" pitchFamily="2" charset="2"/>
              <a:buChar char="v"/>
            </a:pPr>
            <a:endParaRPr lang="es-ES" sz="1400" dirty="0">
              <a:latin typeface="Calibri"/>
              <a:cs typeface="Calibri"/>
            </a:endParaRPr>
          </a:p>
          <a:p>
            <a:pPr marL="298450" marR="5080" indent="-285750" algn="just">
              <a:lnSpc>
                <a:spcPct val="100000"/>
              </a:lnSpc>
              <a:spcBef>
                <a:spcPts val="95"/>
              </a:spcBef>
              <a:buFont typeface="Wingdings" panose="05000000000000000000" pitchFamily="2" charset="2"/>
              <a:buChar char="v"/>
            </a:pPr>
            <a:endParaRPr lang="es-ES" sz="1400" dirty="0">
              <a:latin typeface="Calibri"/>
              <a:cs typeface="Calibri"/>
            </a:endParaRPr>
          </a:p>
          <a:p>
            <a:pPr marL="298450" marR="5080" indent="-285750" algn="just">
              <a:lnSpc>
                <a:spcPct val="100000"/>
              </a:lnSpc>
              <a:spcBef>
                <a:spcPts val="95"/>
              </a:spcBef>
              <a:buFont typeface="Wingdings" panose="05000000000000000000" pitchFamily="2" charset="2"/>
              <a:buChar char="v"/>
            </a:pPr>
            <a:endParaRPr lang="es-ES" sz="14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48547" y="4959502"/>
            <a:ext cx="619125" cy="146685"/>
          </a:xfrm>
          <a:prstGeom prst="rect">
            <a:avLst/>
          </a:prstGeom>
        </p:spPr>
        <p:txBody>
          <a:bodyPr vert="horz" wrap="square" lIns="0" tIns="12065" rIns="0" bIns="0" rtlCol="0">
            <a:spAutoFit/>
          </a:bodyPr>
          <a:lstStyle/>
          <a:p>
            <a:pPr marL="12700">
              <a:lnSpc>
                <a:spcPct val="100000"/>
              </a:lnSpc>
              <a:spcBef>
                <a:spcPts val="95"/>
              </a:spcBef>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43999" cy="5145023"/>
          </a:xfrm>
          <a:prstGeom prst="rect">
            <a:avLst/>
          </a:prstGeom>
        </p:spPr>
      </p:pic>
      <p:sp>
        <p:nvSpPr>
          <p:cNvPr id="4" name="object 4"/>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dirty="0"/>
              <a:t>ALCANCE</a:t>
            </a:r>
            <a:r>
              <a:rPr spc="-60" dirty="0"/>
              <a:t> </a:t>
            </a:r>
            <a:r>
              <a:rPr spc="-25" dirty="0"/>
              <a:t>DEL </a:t>
            </a:r>
            <a:r>
              <a:rPr spc="-10" dirty="0"/>
              <a:t>PROYECTO</a:t>
            </a: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p:nvPr/>
        </p:nvSpPr>
        <p:spPr>
          <a:xfrm>
            <a:off x="4305427" y="1497583"/>
            <a:ext cx="3730625" cy="451484"/>
          </a:xfrm>
          <a:prstGeom prst="rect">
            <a:avLst/>
          </a:prstGeom>
        </p:spPr>
        <p:txBody>
          <a:bodyPr vert="horz" wrap="square" lIns="0" tIns="11430" rIns="0" bIns="0" rtlCol="0">
            <a:spAutoFit/>
          </a:bodyPr>
          <a:lstStyle/>
          <a:p>
            <a:pPr marL="12700" marR="5080">
              <a:lnSpc>
                <a:spcPct val="100000"/>
              </a:lnSpc>
              <a:spcBef>
                <a:spcPts val="90"/>
              </a:spcBef>
            </a:pPr>
            <a:r>
              <a:rPr sz="1400" dirty="0">
                <a:solidFill>
                  <a:srgbClr val="5E5C5D"/>
                </a:solidFill>
                <a:latin typeface="Calibri"/>
                <a:cs typeface="Calibri"/>
              </a:rPr>
              <a:t>“Se define</a:t>
            </a:r>
            <a:r>
              <a:rPr sz="1400" spc="10" dirty="0">
                <a:solidFill>
                  <a:srgbClr val="5E5C5D"/>
                </a:solidFill>
                <a:latin typeface="Calibri"/>
                <a:cs typeface="Calibri"/>
              </a:rPr>
              <a:t> </a:t>
            </a:r>
            <a:r>
              <a:rPr sz="1400" dirty="0">
                <a:solidFill>
                  <a:srgbClr val="5E5C5D"/>
                </a:solidFill>
                <a:latin typeface="Calibri"/>
                <a:cs typeface="Calibri"/>
              </a:rPr>
              <a:t>como</a:t>
            </a:r>
            <a:r>
              <a:rPr sz="1400" spc="10" dirty="0">
                <a:solidFill>
                  <a:srgbClr val="5E5C5D"/>
                </a:solidFill>
                <a:latin typeface="Calibri"/>
                <a:cs typeface="Calibri"/>
              </a:rPr>
              <a:t> </a:t>
            </a:r>
            <a:r>
              <a:rPr sz="1400" dirty="0">
                <a:solidFill>
                  <a:srgbClr val="5E5C5D"/>
                </a:solidFill>
                <a:latin typeface="Calibri"/>
                <a:cs typeface="Calibri"/>
              </a:rPr>
              <a:t>el</a:t>
            </a:r>
            <a:r>
              <a:rPr sz="1400" spc="-5" dirty="0">
                <a:solidFill>
                  <a:srgbClr val="5E5C5D"/>
                </a:solidFill>
                <a:latin typeface="Calibri"/>
                <a:cs typeface="Calibri"/>
              </a:rPr>
              <a:t> </a:t>
            </a:r>
            <a:r>
              <a:rPr sz="1400" dirty="0">
                <a:solidFill>
                  <a:srgbClr val="5E5C5D"/>
                </a:solidFill>
                <a:latin typeface="Calibri"/>
                <a:cs typeface="Calibri"/>
              </a:rPr>
              <a:t>limite</a:t>
            </a:r>
            <a:r>
              <a:rPr sz="1400" spc="10" dirty="0">
                <a:solidFill>
                  <a:srgbClr val="5E5C5D"/>
                </a:solidFill>
                <a:latin typeface="Calibri"/>
                <a:cs typeface="Calibri"/>
              </a:rPr>
              <a:t> </a:t>
            </a:r>
            <a:r>
              <a:rPr sz="1400" dirty="0">
                <a:solidFill>
                  <a:srgbClr val="5E5C5D"/>
                </a:solidFill>
                <a:latin typeface="Calibri"/>
                <a:cs typeface="Calibri"/>
              </a:rPr>
              <a:t>esperado</a:t>
            </a:r>
            <a:r>
              <a:rPr sz="1400" spc="35" dirty="0">
                <a:solidFill>
                  <a:srgbClr val="5E5C5D"/>
                </a:solidFill>
                <a:latin typeface="Calibri"/>
                <a:cs typeface="Calibri"/>
              </a:rPr>
              <a:t> </a:t>
            </a:r>
            <a:r>
              <a:rPr sz="1400" dirty="0">
                <a:solidFill>
                  <a:srgbClr val="5E5C5D"/>
                </a:solidFill>
                <a:latin typeface="Calibri"/>
                <a:cs typeface="Calibri"/>
              </a:rPr>
              <a:t>hasta</a:t>
            </a:r>
            <a:r>
              <a:rPr sz="1400" spc="25" dirty="0">
                <a:solidFill>
                  <a:srgbClr val="5E5C5D"/>
                </a:solidFill>
                <a:latin typeface="Calibri"/>
                <a:cs typeface="Calibri"/>
              </a:rPr>
              <a:t> </a:t>
            </a:r>
            <a:r>
              <a:rPr sz="1400" dirty="0">
                <a:solidFill>
                  <a:srgbClr val="5E5C5D"/>
                </a:solidFill>
                <a:latin typeface="Calibri"/>
                <a:cs typeface="Calibri"/>
              </a:rPr>
              <a:t>donde</a:t>
            </a:r>
            <a:r>
              <a:rPr sz="1400" spc="5" dirty="0">
                <a:solidFill>
                  <a:srgbClr val="5E5C5D"/>
                </a:solidFill>
                <a:latin typeface="Calibri"/>
                <a:cs typeface="Calibri"/>
              </a:rPr>
              <a:t> </a:t>
            </a:r>
            <a:r>
              <a:rPr sz="1400" spc="-25" dirty="0">
                <a:solidFill>
                  <a:srgbClr val="5E5C5D"/>
                </a:solidFill>
                <a:latin typeface="Calibri"/>
                <a:cs typeface="Calibri"/>
              </a:rPr>
              <a:t>se </a:t>
            </a:r>
            <a:r>
              <a:rPr sz="1400" dirty="0">
                <a:solidFill>
                  <a:srgbClr val="5E5C5D"/>
                </a:solidFill>
                <a:latin typeface="Calibri"/>
                <a:cs typeface="Calibri"/>
              </a:rPr>
              <a:t>cree</a:t>
            </a:r>
            <a:r>
              <a:rPr sz="1400" spc="-50" dirty="0">
                <a:solidFill>
                  <a:srgbClr val="5E5C5D"/>
                </a:solidFill>
                <a:latin typeface="Calibri"/>
                <a:cs typeface="Calibri"/>
              </a:rPr>
              <a:t> </a:t>
            </a:r>
            <a:r>
              <a:rPr sz="1400" dirty="0">
                <a:solidFill>
                  <a:srgbClr val="5E5C5D"/>
                </a:solidFill>
                <a:latin typeface="Calibri"/>
                <a:cs typeface="Calibri"/>
              </a:rPr>
              <a:t>puede</a:t>
            </a:r>
            <a:r>
              <a:rPr sz="1400" spc="10" dirty="0">
                <a:solidFill>
                  <a:srgbClr val="5E5C5D"/>
                </a:solidFill>
                <a:latin typeface="Calibri"/>
                <a:cs typeface="Calibri"/>
              </a:rPr>
              <a:t> </a:t>
            </a:r>
            <a:r>
              <a:rPr sz="1400" dirty="0">
                <a:solidFill>
                  <a:srgbClr val="5E5C5D"/>
                </a:solidFill>
                <a:latin typeface="Calibri"/>
                <a:cs typeface="Calibri"/>
              </a:rPr>
              <a:t>llegar</a:t>
            </a:r>
            <a:r>
              <a:rPr sz="1400" spc="-15" dirty="0">
                <a:solidFill>
                  <a:srgbClr val="5E5C5D"/>
                </a:solidFill>
                <a:latin typeface="Calibri"/>
                <a:cs typeface="Calibri"/>
              </a:rPr>
              <a:t> </a:t>
            </a:r>
            <a:r>
              <a:rPr sz="1400" dirty="0">
                <a:solidFill>
                  <a:srgbClr val="5E5C5D"/>
                </a:solidFill>
                <a:latin typeface="Calibri"/>
                <a:cs typeface="Calibri"/>
              </a:rPr>
              <a:t>el</a:t>
            </a:r>
            <a:r>
              <a:rPr sz="1400" spc="-40" dirty="0">
                <a:solidFill>
                  <a:srgbClr val="5E5C5D"/>
                </a:solidFill>
                <a:latin typeface="Calibri"/>
                <a:cs typeface="Calibri"/>
              </a:rPr>
              <a:t> </a:t>
            </a:r>
            <a:r>
              <a:rPr sz="1400" spc="-10" dirty="0">
                <a:solidFill>
                  <a:srgbClr val="5E5C5D"/>
                </a:solidFill>
                <a:latin typeface="Calibri"/>
                <a:cs typeface="Calibri"/>
              </a:rPr>
              <a:t>proyecto”.</a:t>
            </a:r>
            <a:endParaRPr sz="1400">
              <a:latin typeface="Calibri"/>
              <a:cs typeface="Calibri"/>
            </a:endParaRPr>
          </a:p>
        </p:txBody>
      </p:sp>
      <p:sp>
        <p:nvSpPr>
          <p:cNvPr id="7" name="object 7"/>
          <p:cNvSpPr txBox="1"/>
          <p:nvPr/>
        </p:nvSpPr>
        <p:spPr>
          <a:xfrm>
            <a:off x="4305427" y="2137917"/>
            <a:ext cx="3726179" cy="664845"/>
          </a:xfrm>
          <a:prstGeom prst="rect">
            <a:avLst/>
          </a:prstGeom>
        </p:spPr>
        <p:txBody>
          <a:bodyPr vert="horz" wrap="square" lIns="0" tIns="11430" rIns="0" bIns="0" rtlCol="0">
            <a:spAutoFit/>
          </a:bodyPr>
          <a:lstStyle/>
          <a:p>
            <a:pPr marL="12700" marR="5080" algn="just">
              <a:lnSpc>
                <a:spcPct val="100000"/>
              </a:lnSpc>
              <a:spcBef>
                <a:spcPts val="90"/>
              </a:spcBef>
            </a:pPr>
            <a:r>
              <a:rPr sz="1400" dirty="0">
                <a:solidFill>
                  <a:srgbClr val="5E5C5D"/>
                </a:solidFill>
                <a:latin typeface="Calibri"/>
                <a:cs typeface="Calibri"/>
              </a:rPr>
              <a:t>En</a:t>
            </a:r>
            <a:r>
              <a:rPr sz="1400" spc="45" dirty="0">
                <a:solidFill>
                  <a:srgbClr val="5E5C5D"/>
                </a:solidFill>
                <a:latin typeface="Calibri"/>
                <a:cs typeface="Calibri"/>
              </a:rPr>
              <a:t> </a:t>
            </a:r>
            <a:r>
              <a:rPr sz="1400" dirty="0">
                <a:solidFill>
                  <a:srgbClr val="5E5C5D"/>
                </a:solidFill>
                <a:latin typeface="Calibri"/>
                <a:cs typeface="Calibri"/>
              </a:rPr>
              <a:t>el</a:t>
            </a:r>
            <a:r>
              <a:rPr sz="1400" spc="45" dirty="0">
                <a:solidFill>
                  <a:srgbClr val="5E5C5D"/>
                </a:solidFill>
                <a:latin typeface="Calibri"/>
                <a:cs typeface="Calibri"/>
              </a:rPr>
              <a:t> </a:t>
            </a:r>
            <a:r>
              <a:rPr sz="1400" dirty="0">
                <a:solidFill>
                  <a:srgbClr val="5E5C5D"/>
                </a:solidFill>
                <a:latin typeface="Calibri"/>
                <a:cs typeface="Calibri"/>
              </a:rPr>
              <a:t>alcance</a:t>
            </a:r>
            <a:r>
              <a:rPr sz="1400" spc="60" dirty="0">
                <a:solidFill>
                  <a:srgbClr val="5E5C5D"/>
                </a:solidFill>
                <a:latin typeface="Calibri"/>
                <a:cs typeface="Calibri"/>
              </a:rPr>
              <a:t> </a:t>
            </a:r>
            <a:r>
              <a:rPr sz="1400" dirty="0">
                <a:solidFill>
                  <a:srgbClr val="5E5C5D"/>
                </a:solidFill>
                <a:latin typeface="Calibri"/>
                <a:cs typeface="Calibri"/>
              </a:rPr>
              <a:t>se</a:t>
            </a:r>
            <a:r>
              <a:rPr sz="1400" spc="55" dirty="0">
                <a:solidFill>
                  <a:srgbClr val="5E5C5D"/>
                </a:solidFill>
                <a:latin typeface="Calibri"/>
                <a:cs typeface="Calibri"/>
              </a:rPr>
              <a:t> </a:t>
            </a:r>
            <a:r>
              <a:rPr sz="1400" dirty="0">
                <a:solidFill>
                  <a:srgbClr val="5E5C5D"/>
                </a:solidFill>
                <a:latin typeface="Calibri"/>
                <a:cs typeface="Calibri"/>
              </a:rPr>
              <a:t>debe</a:t>
            </a:r>
            <a:r>
              <a:rPr sz="1400" spc="85" dirty="0">
                <a:solidFill>
                  <a:srgbClr val="5E5C5D"/>
                </a:solidFill>
                <a:latin typeface="Calibri"/>
                <a:cs typeface="Calibri"/>
              </a:rPr>
              <a:t> </a:t>
            </a:r>
            <a:r>
              <a:rPr sz="1400" dirty="0">
                <a:solidFill>
                  <a:srgbClr val="5E5C5D"/>
                </a:solidFill>
                <a:latin typeface="Calibri"/>
                <a:cs typeface="Calibri"/>
              </a:rPr>
              <a:t>precisar</a:t>
            </a:r>
            <a:r>
              <a:rPr sz="1400" spc="50" dirty="0">
                <a:solidFill>
                  <a:srgbClr val="5E5C5D"/>
                </a:solidFill>
                <a:latin typeface="Calibri"/>
                <a:cs typeface="Calibri"/>
              </a:rPr>
              <a:t> </a:t>
            </a:r>
            <a:r>
              <a:rPr sz="1400" dirty="0">
                <a:solidFill>
                  <a:srgbClr val="5E5C5D"/>
                </a:solidFill>
                <a:latin typeface="Calibri"/>
                <a:cs typeface="Calibri"/>
              </a:rPr>
              <a:t>las</a:t>
            </a:r>
            <a:r>
              <a:rPr sz="1400" spc="65" dirty="0">
                <a:solidFill>
                  <a:srgbClr val="5E5C5D"/>
                </a:solidFill>
                <a:latin typeface="Calibri"/>
                <a:cs typeface="Calibri"/>
              </a:rPr>
              <a:t> </a:t>
            </a:r>
            <a:r>
              <a:rPr sz="1400" dirty="0">
                <a:solidFill>
                  <a:srgbClr val="5E5C5D"/>
                </a:solidFill>
                <a:latin typeface="Calibri"/>
                <a:cs typeface="Calibri"/>
              </a:rPr>
              <a:t>limitaciones</a:t>
            </a:r>
            <a:r>
              <a:rPr sz="1400" spc="75" dirty="0">
                <a:solidFill>
                  <a:srgbClr val="5E5C5D"/>
                </a:solidFill>
                <a:latin typeface="Calibri"/>
                <a:cs typeface="Calibri"/>
              </a:rPr>
              <a:t> </a:t>
            </a:r>
            <a:r>
              <a:rPr sz="1400" spc="-25" dirty="0">
                <a:solidFill>
                  <a:srgbClr val="5E5C5D"/>
                </a:solidFill>
                <a:latin typeface="Calibri"/>
                <a:cs typeface="Calibri"/>
              </a:rPr>
              <a:t>que </a:t>
            </a:r>
            <a:r>
              <a:rPr sz="1400" dirty="0">
                <a:solidFill>
                  <a:srgbClr val="5E5C5D"/>
                </a:solidFill>
                <a:latin typeface="Calibri"/>
                <a:cs typeface="Calibri"/>
              </a:rPr>
              <a:t>tendrá</a:t>
            </a:r>
            <a:r>
              <a:rPr sz="1400" spc="160" dirty="0">
                <a:solidFill>
                  <a:srgbClr val="5E5C5D"/>
                </a:solidFill>
                <a:latin typeface="Calibri"/>
                <a:cs typeface="Calibri"/>
              </a:rPr>
              <a:t> </a:t>
            </a:r>
            <a:r>
              <a:rPr sz="1400" dirty="0">
                <a:solidFill>
                  <a:srgbClr val="5E5C5D"/>
                </a:solidFill>
                <a:latin typeface="Calibri"/>
                <a:cs typeface="Calibri"/>
              </a:rPr>
              <a:t>el</a:t>
            </a:r>
            <a:r>
              <a:rPr sz="1400" spc="175" dirty="0">
                <a:solidFill>
                  <a:srgbClr val="5E5C5D"/>
                </a:solidFill>
                <a:latin typeface="Calibri"/>
                <a:cs typeface="Calibri"/>
              </a:rPr>
              <a:t> </a:t>
            </a:r>
            <a:r>
              <a:rPr sz="1400" dirty="0">
                <a:solidFill>
                  <a:srgbClr val="5E5C5D"/>
                </a:solidFill>
                <a:latin typeface="Calibri"/>
                <a:cs typeface="Calibri"/>
              </a:rPr>
              <a:t>proyecto.</a:t>
            </a:r>
            <a:r>
              <a:rPr sz="1400" spc="165" dirty="0">
                <a:solidFill>
                  <a:srgbClr val="5E5C5D"/>
                </a:solidFill>
                <a:latin typeface="Calibri"/>
                <a:cs typeface="Calibri"/>
              </a:rPr>
              <a:t> </a:t>
            </a:r>
            <a:r>
              <a:rPr sz="1400" dirty="0">
                <a:solidFill>
                  <a:srgbClr val="5E5C5D"/>
                </a:solidFill>
                <a:latin typeface="Calibri"/>
                <a:cs typeface="Calibri"/>
              </a:rPr>
              <a:t>Se</a:t>
            </a:r>
            <a:r>
              <a:rPr sz="1400" spc="160" dirty="0">
                <a:solidFill>
                  <a:srgbClr val="5E5C5D"/>
                </a:solidFill>
                <a:latin typeface="Calibri"/>
                <a:cs typeface="Calibri"/>
              </a:rPr>
              <a:t> </a:t>
            </a:r>
            <a:r>
              <a:rPr sz="1400" dirty="0">
                <a:solidFill>
                  <a:srgbClr val="5E5C5D"/>
                </a:solidFill>
                <a:latin typeface="Calibri"/>
                <a:cs typeface="Calibri"/>
              </a:rPr>
              <a:t>pueden</a:t>
            </a:r>
            <a:r>
              <a:rPr sz="1400" spc="150" dirty="0">
                <a:solidFill>
                  <a:srgbClr val="5E5C5D"/>
                </a:solidFill>
                <a:latin typeface="Calibri"/>
                <a:cs typeface="Calibri"/>
              </a:rPr>
              <a:t> </a:t>
            </a:r>
            <a:r>
              <a:rPr sz="1400" dirty="0">
                <a:solidFill>
                  <a:srgbClr val="5E5C5D"/>
                </a:solidFill>
                <a:latin typeface="Calibri"/>
                <a:cs typeface="Calibri"/>
              </a:rPr>
              <a:t>formular</a:t>
            </a:r>
            <a:r>
              <a:rPr sz="1400" spc="180" dirty="0">
                <a:solidFill>
                  <a:srgbClr val="5E5C5D"/>
                </a:solidFill>
                <a:latin typeface="Calibri"/>
                <a:cs typeface="Calibri"/>
              </a:rPr>
              <a:t> </a:t>
            </a:r>
            <a:r>
              <a:rPr sz="1400" spc="-10" dirty="0">
                <a:solidFill>
                  <a:srgbClr val="5E5C5D"/>
                </a:solidFill>
                <a:latin typeface="Calibri"/>
                <a:cs typeface="Calibri"/>
              </a:rPr>
              <a:t>teniendo </a:t>
            </a:r>
            <a:r>
              <a:rPr sz="1400" dirty="0">
                <a:solidFill>
                  <a:srgbClr val="5E5C5D"/>
                </a:solidFill>
                <a:latin typeface="Calibri"/>
                <a:cs typeface="Calibri"/>
              </a:rPr>
              <a:t>en</a:t>
            </a:r>
            <a:r>
              <a:rPr sz="1400" spc="-10" dirty="0">
                <a:solidFill>
                  <a:srgbClr val="5E5C5D"/>
                </a:solidFill>
                <a:latin typeface="Calibri"/>
                <a:cs typeface="Calibri"/>
              </a:rPr>
              <a:t> cuenta:</a:t>
            </a:r>
            <a:endParaRPr sz="1400">
              <a:latin typeface="Calibri"/>
              <a:cs typeface="Calibri"/>
            </a:endParaRPr>
          </a:p>
        </p:txBody>
      </p:sp>
      <p:sp>
        <p:nvSpPr>
          <p:cNvPr id="8" name="object 8"/>
          <p:cNvSpPr txBox="1"/>
          <p:nvPr/>
        </p:nvSpPr>
        <p:spPr>
          <a:xfrm>
            <a:off x="4305427" y="2991434"/>
            <a:ext cx="2506345" cy="238125"/>
          </a:xfrm>
          <a:prstGeom prst="rect">
            <a:avLst/>
          </a:prstGeom>
        </p:spPr>
        <p:txBody>
          <a:bodyPr vert="horz" wrap="square" lIns="0" tIns="12065" rIns="0" bIns="0" rtlCol="0">
            <a:spAutoFit/>
          </a:bodyPr>
          <a:lstStyle/>
          <a:p>
            <a:pPr marL="12700">
              <a:lnSpc>
                <a:spcPct val="100000"/>
              </a:lnSpc>
              <a:spcBef>
                <a:spcPts val="95"/>
              </a:spcBef>
            </a:pPr>
            <a:r>
              <a:rPr sz="1400" dirty="0">
                <a:solidFill>
                  <a:srgbClr val="5E5C5D"/>
                </a:solidFill>
                <a:latin typeface="Calibri"/>
                <a:cs typeface="Calibri"/>
              </a:rPr>
              <a:t>El</a:t>
            </a:r>
            <a:r>
              <a:rPr sz="1400" spc="-20" dirty="0">
                <a:solidFill>
                  <a:srgbClr val="5E5C5D"/>
                </a:solidFill>
                <a:latin typeface="Calibri"/>
                <a:cs typeface="Calibri"/>
              </a:rPr>
              <a:t> </a:t>
            </a:r>
            <a:r>
              <a:rPr sz="1400" spc="-10" dirty="0">
                <a:solidFill>
                  <a:srgbClr val="5E5C5D"/>
                </a:solidFill>
                <a:latin typeface="Calibri"/>
                <a:cs typeface="Calibri"/>
              </a:rPr>
              <a:t>Producto,</a:t>
            </a:r>
            <a:r>
              <a:rPr sz="1400" spc="35" dirty="0">
                <a:solidFill>
                  <a:srgbClr val="5E5C5D"/>
                </a:solidFill>
                <a:latin typeface="Calibri"/>
                <a:cs typeface="Calibri"/>
              </a:rPr>
              <a:t> </a:t>
            </a:r>
            <a:r>
              <a:rPr sz="1400" dirty="0">
                <a:solidFill>
                  <a:srgbClr val="5E5C5D"/>
                </a:solidFill>
                <a:latin typeface="Calibri"/>
                <a:cs typeface="Calibri"/>
              </a:rPr>
              <a:t>el</a:t>
            </a:r>
            <a:r>
              <a:rPr sz="1400" spc="-15" dirty="0">
                <a:solidFill>
                  <a:srgbClr val="5E5C5D"/>
                </a:solidFill>
                <a:latin typeface="Calibri"/>
                <a:cs typeface="Calibri"/>
              </a:rPr>
              <a:t> </a:t>
            </a:r>
            <a:r>
              <a:rPr sz="1400" spc="-10" dirty="0">
                <a:solidFill>
                  <a:srgbClr val="5E5C5D"/>
                </a:solidFill>
                <a:latin typeface="Calibri"/>
                <a:cs typeface="Calibri"/>
              </a:rPr>
              <a:t>proceso</a:t>
            </a:r>
            <a:r>
              <a:rPr sz="1400" spc="-20" dirty="0">
                <a:solidFill>
                  <a:srgbClr val="5E5C5D"/>
                </a:solidFill>
                <a:latin typeface="Calibri"/>
                <a:cs typeface="Calibri"/>
              </a:rPr>
              <a:t> </a:t>
            </a:r>
            <a:r>
              <a:rPr sz="1400" dirty="0">
                <a:solidFill>
                  <a:srgbClr val="5E5C5D"/>
                </a:solidFill>
                <a:latin typeface="Calibri"/>
                <a:cs typeface="Calibri"/>
              </a:rPr>
              <a:t>y</a:t>
            </a:r>
            <a:r>
              <a:rPr sz="1400" spc="-35" dirty="0">
                <a:solidFill>
                  <a:srgbClr val="5E5C5D"/>
                </a:solidFill>
                <a:latin typeface="Calibri"/>
                <a:cs typeface="Calibri"/>
              </a:rPr>
              <a:t> </a:t>
            </a:r>
            <a:r>
              <a:rPr sz="1400" spc="-10" dirty="0">
                <a:solidFill>
                  <a:srgbClr val="5E5C5D"/>
                </a:solidFill>
                <a:latin typeface="Calibri"/>
                <a:cs typeface="Calibri"/>
              </a:rPr>
              <a:t>contexto.</a:t>
            </a:r>
            <a:endParaRPr sz="14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61247" y="4997424"/>
            <a:ext cx="593725" cy="100965"/>
          </a:xfrm>
          <a:prstGeom prst="rect">
            <a:avLst/>
          </a:prstGeom>
        </p:spPr>
        <p:txBody>
          <a:bodyPr vert="horz" wrap="square" lIns="0" tIns="0" rIns="0" bIns="0" rtlCol="0">
            <a:spAutoFit/>
          </a:bodyPr>
          <a:lstStyle/>
          <a:p>
            <a:pPr>
              <a:lnSpc>
                <a:spcPts val="755"/>
              </a:lnSpc>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37904" cy="5145022"/>
          </a:xfrm>
          <a:prstGeom prst="rect">
            <a:avLst/>
          </a:prstGeom>
        </p:spPr>
      </p:pic>
      <p:sp>
        <p:nvSpPr>
          <p:cNvPr id="4" name="object 4"/>
          <p:cNvSpPr txBox="1"/>
          <p:nvPr/>
        </p:nvSpPr>
        <p:spPr>
          <a:xfrm>
            <a:off x="612444" y="2028570"/>
            <a:ext cx="2484120" cy="757555"/>
          </a:xfrm>
          <a:prstGeom prst="rect">
            <a:avLst/>
          </a:prstGeom>
        </p:spPr>
        <p:txBody>
          <a:bodyPr vert="horz" wrap="square" lIns="0" tIns="12700" rIns="0" bIns="0" rtlCol="0">
            <a:spAutoFit/>
          </a:bodyPr>
          <a:lstStyle/>
          <a:p>
            <a:pPr marL="12700" marR="5080">
              <a:lnSpc>
                <a:spcPct val="100000"/>
              </a:lnSpc>
              <a:spcBef>
                <a:spcPts val="100"/>
              </a:spcBef>
            </a:pPr>
            <a:r>
              <a:rPr sz="2400" b="1" dirty="0">
                <a:solidFill>
                  <a:srgbClr val="FFFFFF"/>
                </a:solidFill>
                <a:latin typeface="Calibri"/>
                <a:cs typeface="Calibri"/>
              </a:rPr>
              <a:t>BENEFICIARIOS</a:t>
            </a:r>
            <a:r>
              <a:rPr sz="2400" b="1" spc="-25" dirty="0">
                <a:solidFill>
                  <a:srgbClr val="FFFFFF"/>
                </a:solidFill>
                <a:latin typeface="Calibri"/>
                <a:cs typeface="Calibri"/>
              </a:rPr>
              <a:t> DEL </a:t>
            </a:r>
            <a:r>
              <a:rPr sz="2400" b="1" spc="-10" dirty="0">
                <a:solidFill>
                  <a:srgbClr val="FFFFFF"/>
                </a:solidFill>
                <a:latin typeface="Calibri"/>
                <a:cs typeface="Calibri"/>
              </a:rPr>
              <a:t>PROYECTO</a:t>
            </a:r>
            <a:endParaRPr sz="2400">
              <a:latin typeface="Calibri"/>
              <a:cs typeface="Calibri"/>
            </a:endParaRP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a:spLocks noGrp="1"/>
          </p:cNvSpPr>
          <p:nvPr>
            <p:ph type="title"/>
          </p:nvPr>
        </p:nvSpPr>
        <p:spPr>
          <a:xfrm>
            <a:off x="4397502" y="897712"/>
            <a:ext cx="3728720" cy="443070"/>
          </a:xfrm>
          <a:prstGeom prst="rect">
            <a:avLst/>
          </a:prstGeom>
        </p:spPr>
        <p:txBody>
          <a:bodyPr vert="horz" wrap="square" lIns="0" tIns="12065" rIns="0" bIns="0" rtlCol="0">
            <a:spAutoFit/>
          </a:bodyPr>
          <a:lstStyle/>
          <a:p>
            <a:pPr marL="12700">
              <a:lnSpc>
                <a:spcPct val="100000"/>
              </a:lnSpc>
              <a:spcBef>
                <a:spcPts val="95"/>
              </a:spcBef>
              <a:tabLst>
                <a:tab pos="417830" algn="l"/>
                <a:tab pos="1512570" algn="l"/>
                <a:tab pos="2414905" algn="l"/>
                <a:tab pos="2802255" algn="l"/>
                <a:tab pos="3585845" algn="l"/>
              </a:tabLst>
            </a:pPr>
            <a:r>
              <a:rPr sz="1400" b="0" spc="-25" dirty="0">
                <a:solidFill>
                  <a:srgbClr val="5E5C5D"/>
                </a:solidFill>
                <a:latin typeface="Calibri"/>
                <a:cs typeface="Calibri"/>
              </a:rPr>
              <a:t>Los</a:t>
            </a:r>
            <a:r>
              <a:rPr sz="1400" b="0" dirty="0">
                <a:solidFill>
                  <a:srgbClr val="5E5C5D"/>
                </a:solidFill>
                <a:latin typeface="Calibri"/>
                <a:cs typeface="Calibri"/>
              </a:rPr>
              <a:t>	</a:t>
            </a:r>
            <a:r>
              <a:rPr lang="es-CO" sz="1400" b="0" spc="-10" dirty="0">
                <a:solidFill>
                  <a:srgbClr val="5E5C5D"/>
                </a:solidFill>
                <a:latin typeface="Calibri"/>
                <a:cs typeface="Calibri"/>
              </a:rPr>
              <a:t>beneficiarios</a:t>
            </a:r>
            <a:r>
              <a:rPr lang="es-ES" sz="1400" b="0" spc="-10" dirty="0">
                <a:solidFill>
                  <a:srgbClr val="5E5C5D"/>
                </a:solidFill>
              </a:rPr>
              <a:t> de este proyecto son tanto los creadores como los  hoteles </a:t>
            </a:r>
            <a:r>
              <a:rPr sz="1400" b="0" spc="-10" dirty="0">
                <a:solidFill>
                  <a:srgbClr val="5E5C5D"/>
                </a:solidFill>
                <a:latin typeface="Calibri"/>
                <a:cs typeface="Calibri"/>
              </a:rPr>
              <a:t>.</a:t>
            </a:r>
            <a:endParaRPr sz="1400" dirty="0">
              <a:latin typeface="Calibri"/>
              <a:cs typeface="Calibri"/>
            </a:endParaRPr>
          </a:p>
        </p:txBody>
      </p:sp>
      <p:sp>
        <p:nvSpPr>
          <p:cNvPr id="7" name="object 7"/>
          <p:cNvSpPr txBox="1"/>
          <p:nvPr/>
        </p:nvSpPr>
        <p:spPr>
          <a:xfrm>
            <a:off x="4397502" y="1538173"/>
            <a:ext cx="1219200" cy="238125"/>
          </a:xfrm>
          <a:prstGeom prst="rect">
            <a:avLst/>
          </a:prstGeom>
        </p:spPr>
        <p:txBody>
          <a:bodyPr vert="horz" wrap="square" lIns="0" tIns="12065" rIns="0" bIns="0" rtlCol="0">
            <a:spAutoFit/>
          </a:bodyPr>
          <a:lstStyle/>
          <a:p>
            <a:pPr marL="12700">
              <a:lnSpc>
                <a:spcPct val="100000"/>
              </a:lnSpc>
              <a:spcBef>
                <a:spcPts val="95"/>
              </a:spcBef>
            </a:pPr>
            <a:r>
              <a:rPr sz="1400" dirty="0">
                <a:solidFill>
                  <a:srgbClr val="5E5C5D"/>
                </a:solidFill>
                <a:latin typeface="Calibri"/>
                <a:cs typeface="Calibri"/>
              </a:rPr>
              <a:t>Se</a:t>
            </a:r>
            <a:r>
              <a:rPr sz="1400" spc="-50" dirty="0">
                <a:solidFill>
                  <a:srgbClr val="5E5C5D"/>
                </a:solidFill>
                <a:latin typeface="Calibri"/>
                <a:cs typeface="Calibri"/>
              </a:rPr>
              <a:t> </a:t>
            </a:r>
            <a:r>
              <a:rPr sz="1400" dirty="0">
                <a:solidFill>
                  <a:srgbClr val="5E5C5D"/>
                </a:solidFill>
                <a:latin typeface="Calibri"/>
                <a:cs typeface="Calibri"/>
              </a:rPr>
              <a:t>puede </a:t>
            </a:r>
            <a:r>
              <a:rPr sz="1400" spc="-10" dirty="0">
                <a:solidFill>
                  <a:srgbClr val="5E5C5D"/>
                </a:solidFill>
                <a:latin typeface="Calibri"/>
                <a:cs typeface="Calibri"/>
              </a:rPr>
              <a:t>incluir:</a:t>
            </a:r>
            <a:endParaRPr sz="1400">
              <a:latin typeface="Calibri"/>
              <a:cs typeface="Calibri"/>
            </a:endParaRPr>
          </a:p>
        </p:txBody>
      </p:sp>
      <p:sp>
        <p:nvSpPr>
          <p:cNvPr id="8" name="object 8"/>
          <p:cNvSpPr txBox="1"/>
          <p:nvPr/>
        </p:nvSpPr>
        <p:spPr>
          <a:xfrm>
            <a:off x="4397502" y="1965147"/>
            <a:ext cx="3727450" cy="1512594"/>
          </a:xfrm>
          <a:prstGeom prst="rect">
            <a:avLst/>
          </a:prstGeom>
        </p:spPr>
        <p:txBody>
          <a:bodyPr vert="horz" wrap="square" lIns="0" tIns="12065" rIns="0" bIns="0" rtlCol="0">
            <a:spAutoFit/>
          </a:bodyPr>
          <a:lstStyle/>
          <a:p>
            <a:pPr marL="299085" indent="-286385">
              <a:lnSpc>
                <a:spcPct val="100000"/>
              </a:lnSpc>
              <a:spcBef>
                <a:spcPts val="95"/>
              </a:spcBef>
              <a:buFont typeface="Arial MT"/>
              <a:buChar char="•"/>
              <a:tabLst>
                <a:tab pos="299085" algn="l"/>
              </a:tabLst>
            </a:pPr>
            <a:r>
              <a:rPr lang="es-ES" sz="1400" spc="-10" dirty="0">
                <a:solidFill>
                  <a:srgbClr val="5E5C5D"/>
                </a:solidFill>
                <a:latin typeface="Calibri"/>
                <a:cs typeface="Calibri"/>
              </a:rPr>
              <a:t>Hoteles que empleen INNOVASTAY</a:t>
            </a:r>
            <a:r>
              <a:rPr sz="1400" spc="-10" dirty="0">
                <a:solidFill>
                  <a:srgbClr val="5E5C5D"/>
                </a:solidFill>
                <a:latin typeface="Calibri"/>
                <a:cs typeface="Calibri"/>
              </a:rPr>
              <a:t>.</a:t>
            </a:r>
            <a:endParaRPr sz="1400" dirty="0">
              <a:latin typeface="Calibri"/>
              <a:cs typeface="Calibri"/>
            </a:endParaRPr>
          </a:p>
          <a:p>
            <a:pPr marL="299085" indent="-286385">
              <a:lnSpc>
                <a:spcPct val="100000"/>
              </a:lnSpc>
              <a:buFont typeface="Arial MT"/>
              <a:buChar char="•"/>
              <a:tabLst>
                <a:tab pos="299085" algn="l"/>
              </a:tabLst>
            </a:pPr>
            <a:r>
              <a:rPr lang="es-ES" sz="1400" spc="-10" dirty="0">
                <a:solidFill>
                  <a:srgbClr val="5E5C5D"/>
                </a:solidFill>
                <a:latin typeface="Calibri"/>
                <a:cs typeface="Calibri"/>
              </a:rPr>
              <a:t>Trabajadores de los hoteles</a:t>
            </a:r>
            <a:r>
              <a:rPr sz="1400" spc="-10" dirty="0">
                <a:solidFill>
                  <a:srgbClr val="5E5C5D"/>
                </a:solidFill>
                <a:latin typeface="Calibri"/>
                <a:cs typeface="Calibri"/>
              </a:rPr>
              <a:t>.</a:t>
            </a:r>
            <a:endParaRPr sz="1400" dirty="0">
              <a:latin typeface="Calibri"/>
              <a:cs typeface="Calibri"/>
            </a:endParaRPr>
          </a:p>
          <a:p>
            <a:pPr marL="299085" indent="-286385">
              <a:lnSpc>
                <a:spcPct val="100000"/>
              </a:lnSpc>
              <a:buFont typeface="Arial MT"/>
              <a:buChar char="•"/>
              <a:tabLst>
                <a:tab pos="299085" algn="l"/>
              </a:tabLst>
            </a:pPr>
            <a:r>
              <a:rPr lang="es-ES" sz="1400" spc="-10" dirty="0">
                <a:solidFill>
                  <a:srgbClr val="5E5C5D"/>
                </a:solidFill>
                <a:latin typeface="Calibri"/>
                <a:cs typeface="Calibri"/>
              </a:rPr>
              <a:t>Usuarios del hotel</a:t>
            </a:r>
            <a:r>
              <a:rPr sz="1400" spc="-10" dirty="0">
                <a:solidFill>
                  <a:srgbClr val="5E5C5D"/>
                </a:solidFill>
                <a:latin typeface="Calibri"/>
                <a:cs typeface="Calibri"/>
              </a:rPr>
              <a:t>.</a:t>
            </a:r>
            <a:endParaRPr sz="1400" dirty="0">
              <a:latin typeface="Calibri"/>
              <a:cs typeface="Calibri"/>
            </a:endParaRPr>
          </a:p>
          <a:p>
            <a:pPr marL="299085" indent="-286385">
              <a:lnSpc>
                <a:spcPct val="100000"/>
              </a:lnSpc>
              <a:buFont typeface="Arial MT"/>
              <a:buChar char="•"/>
              <a:tabLst>
                <a:tab pos="299085" algn="l"/>
              </a:tabLst>
            </a:pPr>
            <a:r>
              <a:rPr lang="es-ES" sz="1400" spc="-10" dirty="0">
                <a:solidFill>
                  <a:srgbClr val="5E5C5D"/>
                </a:solidFill>
                <a:latin typeface="Calibri"/>
                <a:cs typeface="Calibri"/>
              </a:rPr>
              <a:t>Autores de INNOVASTAY</a:t>
            </a:r>
            <a:r>
              <a:rPr sz="1400" spc="-10" dirty="0">
                <a:solidFill>
                  <a:srgbClr val="5E5C5D"/>
                </a:solidFill>
                <a:latin typeface="Calibri"/>
                <a:cs typeface="Calibri"/>
              </a:rPr>
              <a:t>.</a:t>
            </a:r>
            <a:endParaRPr sz="1400" dirty="0">
              <a:latin typeface="Calibri"/>
              <a:cs typeface="Calibri"/>
            </a:endParaRPr>
          </a:p>
          <a:p>
            <a:pPr>
              <a:lnSpc>
                <a:spcPct val="100000"/>
              </a:lnSpc>
              <a:spcBef>
                <a:spcPts val="35"/>
              </a:spcBef>
            </a:pPr>
            <a:endParaRPr sz="1350" dirty="0">
              <a:latin typeface="Calibri"/>
              <a:cs typeface="Calibri"/>
            </a:endParaRPr>
          </a:p>
          <a:p>
            <a:pPr marL="12700" marR="5080">
              <a:lnSpc>
                <a:spcPct val="100000"/>
              </a:lnSpc>
            </a:pPr>
            <a:r>
              <a:rPr sz="1400" dirty="0">
                <a:solidFill>
                  <a:srgbClr val="5E5C5D"/>
                </a:solidFill>
                <a:latin typeface="Calibri"/>
                <a:cs typeface="Calibri"/>
              </a:rPr>
              <a:t>E</a:t>
            </a:r>
            <a:r>
              <a:rPr lang="es-ES" sz="1400" dirty="0" err="1">
                <a:solidFill>
                  <a:srgbClr val="5E5C5D"/>
                </a:solidFill>
                <a:latin typeface="Calibri"/>
                <a:cs typeface="Calibri"/>
              </a:rPr>
              <a:t>ste</a:t>
            </a:r>
            <a:r>
              <a:rPr lang="es-ES" sz="1400" dirty="0">
                <a:solidFill>
                  <a:srgbClr val="5E5C5D"/>
                </a:solidFill>
                <a:latin typeface="Calibri"/>
                <a:cs typeface="Calibri"/>
              </a:rPr>
              <a:t> ofrece desde facilidad, versatilidad, y ganancias</a:t>
            </a:r>
            <a:r>
              <a:rPr sz="1400" spc="-10" dirty="0">
                <a:solidFill>
                  <a:srgbClr val="5E5C5D"/>
                </a:solidFill>
                <a:latin typeface="Calibri"/>
                <a:cs typeface="Calibri"/>
              </a:rPr>
              <a:t>.</a:t>
            </a:r>
            <a:endParaRPr sz="14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61247" y="4997424"/>
            <a:ext cx="593725" cy="100965"/>
          </a:xfrm>
          <a:prstGeom prst="rect">
            <a:avLst/>
          </a:prstGeom>
        </p:spPr>
        <p:txBody>
          <a:bodyPr vert="horz" wrap="square" lIns="0" tIns="0" rIns="0" bIns="0" rtlCol="0">
            <a:spAutoFit/>
          </a:bodyPr>
          <a:lstStyle/>
          <a:p>
            <a:pPr>
              <a:lnSpc>
                <a:spcPts val="755"/>
              </a:lnSpc>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37904" cy="5145022"/>
          </a:xfrm>
          <a:prstGeom prst="rect">
            <a:avLst/>
          </a:prstGeom>
        </p:spPr>
      </p:pic>
      <p:sp>
        <p:nvSpPr>
          <p:cNvPr id="4" name="object 4"/>
          <p:cNvSpPr txBox="1"/>
          <p:nvPr/>
        </p:nvSpPr>
        <p:spPr>
          <a:xfrm>
            <a:off x="612444" y="2028570"/>
            <a:ext cx="1207135" cy="391160"/>
          </a:xfrm>
          <a:prstGeom prst="rect">
            <a:avLst/>
          </a:prstGeom>
        </p:spPr>
        <p:txBody>
          <a:bodyPr vert="horz" wrap="square" lIns="0" tIns="12700" rIns="0" bIns="0" rtlCol="0">
            <a:spAutoFit/>
          </a:bodyPr>
          <a:lstStyle/>
          <a:p>
            <a:pPr marL="12700">
              <a:lnSpc>
                <a:spcPct val="100000"/>
              </a:lnSpc>
              <a:spcBef>
                <a:spcPts val="100"/>
              </a:spcBef>
            </a:pPr>
            <a:r>
              <a:rPr sz="2400" b="1" spc="-35" dirty="0">
                <a:solidFill>
                  <a:srgbClr val="FFFFFF"/>
                </a:solidFill>
                <a:latin typeface="Calibri"/>
                <a:cs typeface="Calibri"/>
              </a:rPr>
              <a:t>IMPACTO</a:t>
            </a:r>
            <a:endParaRPr sz="2400">
              <a:latin typeface="Calibri"/>
              <a:cs typeface="Calibri"/>
            </a:endParaRP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p:nvPr/>
        </p:nvSpPr>
        <p:spPr>
          <a:xfrm>
            <a:off x="4269233" y="505936"/>
            <a:ext cx="3726179" cy="226985"/>
          </a:xfrm>
          <a:prstGeom prst="rect">
            <a:avLst/>
          </a:prstGeom>
        </p:spPr>
        <p:txBody>
          <a:bodyPr vert="horz" wrap="square" lIns="0" tIns="11430" rIns="0" bIns="0" rtlCol="0">
            <a:spAutoFit/>
          </a:bodyPr>
          <a:lstStyle/>
          <a:p>
            <a:pPr marL="12700">
              <a:lnSpc>
                <a:spcPct val="100000"/>
              </a:lnSpc>
              <a:spcBef>
                <a:spcPts val="90"/>
              </a:spcBef>
            </a:pPr>
            <a:r>
              <a:rPr lang="es-ES" sz="1400" spc="310" dirty="0">
                <a:solidFill>
                  <a:srgbClr val="5E5C5D"/>
                </a:solidFill>
                <a:latin typeface="Calibri"/>
                <a:cs typeface="Calibri"/>
              </a:rPr>
              <a:t>Los efectos o impactos de </a:t>
            </a:r>
            <a:r>
              <a:rPr lang="es-ES" sz="1400" dirty="0">
                <a:solidFill>
                  <a:schemeClr val="tx1"/>
                </a:solidFill>
                <a:latin typeface="Calibri"/>
                <a:cs typeface="Calibri"/>
              </a:rPr>
              <a:t>Chekinpro</a:t>
            </a:r>
            <a:endParaRPr sz="1400" dirty="0">
              <a:solidFill>
                <a:schemeClr val="tx1"/>
              </a:solidFill>
              <a:latin typeface="Calibri"/>
              <a:cs typeface="Calibri"/>
            </a:endParaRPr>
          </a:p>
        </p:txBody>
      </p:sp>
      <p:sp>
        <p:nvSpPr>
          <p:cNvPr id="7" name="object 7"/>
          <p:cNvSpPr txBox="1">
            <a:spLocks noGrp="1"/>
          </p:cNvSpPr>
          <p:nvPr>
            <p:ph type="title"/>
          </p:nvPr>
        </p:nvSpPr>
        <p:spPr>
          <a:xfrm>
            <a:off x="4291965" y="895553"/>
            <a:ext cx="2560955" cy="227626"/>
          </a:xfrm>
          <a:prstGeom prst="rect">
            <a:avLst/>
          </a:prstGeom>
        </p:spPr>
        <p:txBody>
          <a:bodyPr vert="horz" wrap="square" lIns="0" tIns="12065" rIns="0" bIns="0" rtlCol="0">
            <a:spAutoFit/>
          </a:bodyPr>
          <a:lstStyle/>
          <a:p>
            <a:pPr marL="12700">
              <a:lnSpc>
                <a:spcPct val="100000"/>
              </a:lnSpc>
              <a:spcBef>
                <a:spcPts val="95"/>
              </a:spcBef>
            </a:pPr>
            <a:r>
              <a:rPr lang="es-ES" sz="1400" b="0" spc="-10" dirty="0">
                <a:solidFill>
                  <a:srgbClr val="5E5C5D"/>
                </a:solidFill>
                <a:latin typeface="Calibri"/>
                <a:cs typeface="Calibri"/>
              </a:rPr>
              <a:t>Abarca en</a:t>
            </a:r>
            <a:r>
              <a:rPr sz="1400" b="0" spc="-10" dirty="0">
                <a:solidFill>
                  <a:srgbClr val="5E5C5D"/>
                </a:solidFill>
                <a:latin typeface="Calibri"/>
                <a:cs typeface="Calibri"/>
              </a:rPr>
              <a:t>:</a:t>
            </a:r>
            <a:endParaRPr sz="1400" dirty="0">
              <a:latin typeface="Calibri"/>
              <a:cs typeface="Calibri"/>
            </a:endParaRPr>
          </a:p>
        </p:txBody>
      </p:sp>
      <p:sp>
        <p:nvSpPr>
          <p:cNvPr id="8" name="object 8"/>
          <p:cNvSpPr txBox="1"/>
          <p:nvPr/>
        </p:nvSpPr>
        <p:spPr>
          <a:xfrm>
            <a:off x="4291965" y="1322654"/>
            <a:ext cx="3731895" cy="443070"/>
          </a:xfrm>
          <a:prstGeom prst="rect">
            <a:avLst/>
          </a:prstGeom>
        </p:spPr>
        <p:txBody>
          <a:bodyPr vert="horz" wrap="square" lIns="0" tIns="12065" rIns="0" bIns="0" rtlCol="0">
            <a:spAutoFit/>
          </a:bodyPr>
          <a:lstStyle/>
          <a:p>
            <a:pPr marL="12700">
              <a:lnSpc>
                <a:spcPct val="100000"/>
              </a:lnSpc>
              <a:spcBef>
                <a:spcPts val="95"/>
              </a:spcBef>
            </a:pPr>
            <a:r>
              <a:rPr sz="1400" b="1" dirty="0">
                <a:solidFill>
                  <a:srgbClr val="FA7D1A"/>
                </a:solidFill>
                <a:latin typeface="Calibri"/>
                <a:cs typeface="Calibri"/>
              </a:rPr>
              <a:t>SOCIAL</a:t>
            </a:r>
            <a:r>
              <a:rPr sz="1400" dirty="0">
                <a:solidFill>
                  <a:srgbClr val="5E5C5D"/>
                </a:solidFill>
                <a:latin typeface="Calibri"/>
                <a:cs typeface="Calibri"/>
              </a:rPr>
              <a:t>:</a:t>
            </a:r>
            <a:r>
              <a:rPr sz="1400" spc="135" dirty="0">
                <a:solidFill>
                  <a:srgbClr val="5E5C5D"/>
                </a:solidFill>
                <a:latin typeface="Calibri"/>
                <a:cs typeface="Calibri"/>
              </a:rPr>
              <a:t>  </a:t>
            </a:r>
            <a:r>
              <a:rPr sz="1400" dirty="0">
                <a:solidFill>
                  <a:srgbClr val="5E5C5D"/>
                </a:solidFill>
                <a:latin typeface="Calibri"/>
                <a:cs typeface="Calibri"/>
              </a:rPr>
              <a:t>mejoramiento</a:t>
            </a:r>
            <a:r>
              <a:rPr sz="1400" spc="165" dirty="0">
                <a:solidFill>
                  <a:srgbClr val="5E5C5D"/>
                </a:solidFill>
                <a:latin typeface="Calibri"/>
                <a:cs typeface="Calibri"/>
              </a:rPr>
              <a:t> </a:t>
            </a:r>
            <a:r>
              <a:rPr sz="1400" dirty="0">
                <a:solidFill>
                  <a:srgbClr val="5E5C5D"/>
                </a:solidFill>
                <a:latin typeface="Calibri"/>
                <a:cs typeface="Calibri"/>
              </a:rPr>
              <a:t>de</a:t>
            </a:r>
            <a:r>
              <a:rPr sz="1400" spc="150" dirty="0">
                <a:solidFill>
                  <a:srgbClr val="5E5C5D"/>
                </a:solidFill>
                <a:latin typeface="Calibri"/>
                <a:cs typeface="Calibri"/>
              </a:rPr>
              <a:t> </a:t>
            </a:r>
            <a:r>
              <a:rPr sz="1400" dirty="0">
                <a:solidFill>
                  <a:srgbClr val="5E5C5D"/>
                </a:solidFill>
                <a:latin typeface="Calibri"/>
                <a:cs typeface="Calibri"/>
              </a:rPr>
              <a:t>la</a:t>
            </a:r>
            <a:r>
              <a:rPr sz="1400" spc="135" dirty="0">
                <a:solidFill>
                  <a:srgbClr val="5E5C5D"/>
                </a:solidFill>
                <a:latin typeface="Calibri"/>
                <a:cs typeface="Calibri"/>
              </a:rPr>
              <a:t> </a:t>
            </a:r>
            <a:r>
              <a:rPr sz="1400" dirty="0">
                <a:solidFill>
                  <a:srgbClr val="5E5C5D"/>
                </a:solidFill>
                <a:latin typeface="Calibri"/>
                <a:cs typeface="Calibri"/>
              </a:rPr>
              <a:t>calidad</a:t>
            </a:r>
            <a:r>
              <a:rPr sz="1400" spc="140" dirty="0">
                <a:solidFill>
                  <a:srgbClr val="5E5C5D"/>
                </a:solidFill>
                <a:latin typeface="Calibri"/>
                <a:cs typeface="Calibri"/>
              </a:rPr>
              <a:t> </a:t>
            </a:r>
            <a:r>
              <a:rPr sz="1400" dirty="0">
                <a:solidFill>
                  <a:srgbClr val="5E5C5D"/>
                </a:solidFill>
                <a:latin typeface="Calibri"/>
                <a:cs typeface="Calibri"/>
              </a:rPr>
              <a:t>de</a:t>
            </a:r>
            <a:r>
              <a:rPr lang="es-ES" sz="1400" spc="180" dirty="0">
                <a:solidFill>
                  <a:srgbClr val="5E5C5D"/>
                </a:solidFill>
                <a:latin typeface="Calibri"/>
                <a:cs typeface="Calibri"/>
              </a:rPr>
              <a:t>l trabajo y satisfacción de usuario</a:t>
            </a:r>
            <a:r>
              <a:rPr sz="1400" spc="-10" dirty="0">
                <a:solidFill>
                  <a:srgbClr val="5E5C5D"/>
                </a:solidFill>
                <a:latin typeface="Calibri"/>
                <a:cs typeface="Calibri"/>
              </a:rPr>
              <a:t>.</a:t>
            </a:r>
            <a:endParaRPr sz="1400" dirty="0">
              <a:latin typeface="Calibri"/>
              <a:cs typeface="Calibri"/>
            </a:endParaRPr>
          </a:p>
        </p:txBody>
      </p:sp>
      <p:sp>
        <p:nvSpPr>
          <p:cNvPr id="9" name="object 9"/>
          <p:cNvSpPr txBox="1"/>
          <p:nvPr/>
        </p:nvSpPr>
        <p:spPr>
          <a:xfrm>
            <a:off x="4291965" y="1962988"/>
            <a:ext cx="3726179" cy="1297150"/>
          </a:xfrm>
          <a:prstGeom prst="rect">
            <a:avLst/>
          </a:prstGeom>
        </p:spPr>
        <p:txBody>
          <a:bodyPr vert="horz" wrap="square" lIns="0" tIns="12065" rIns="0" bIns="0" rtlCol="0">
            <a:spAutoFit/>
          </a:bodyPr>
          <a:lstStyle/>
          <a:p>
            <a:pPr marL="12700" marR="1270" algn="just">
              <a:lnSpc>
                <a:spcPct val="100000"/>
              </a:lnSpc>
              <a:spcBef>
                <a:spcPts val="95"/>
              </a:spcBef>
            </a:pPr>
            <a:r>
              <a:rPr sz="1400" b="1" dirty="0">
                <a:solidFill>
                  <a:srgbClr val="FA7D1A"/>
                </a:solidFill>
                <a:latin typeface="Calibri"/>
                <a:cs typeface="Calibri"/>
              </a:rPr>
              <a:t>ECONÓMICOS</a:t>
            </a:r>
            <a:r>
              <a:rPr sz="1400" dirty="0">
                <a:solidFill>
                  <a:srgbClr val="5E5C5D"/>
                </a:solidFill>
                <a:latin typeface="Calibri"/>
                <a:cs typeface="Calibri"/>
              </a:rPr>
              <a:t>:</a:t>
            </a:r>
            <a:r>
              <a:rPr lang="es-ES" sz="1400" dirty="0">
                <a:solidFill>
                  <a:srgbClr val="5E5C5D"/>
                </a:solidFill>
                <a:latin typeface="Calibri"/>
                <a:cs typeface="Calibri"/>
              </a:rPr>
              <a:t> Disminución de perdidas de ganancias, asegurando la satisfacción del usuario hotelero</a:t>
            </a:r>
            <a:r>
              <a:rPr sz="1400" spc="-10" dirty="0">
                <a:solidFill>
                  <a:srgbClr val="5E5C5D"/>
                </a:solidFill>
                <a:latin typeface="Calibri"/>
                <a:cs typeface="Calibri"/>
              </a:rPr>
              <a:t>.</a:t>
            </a:r>
            <a:endParaRPr sz="1400" dirty="0">
              <a:latin typeface="Calibri"/>
              <a:cs typeface="Calibri"/>
            </a:endParaRPr>
          </a:p>
          <a:p>
            <a:pPr>
              <a:lnSpc>
                <a:spcPct val="100000"/>
              </a:lnSpc>
              <a:spcBef>
                <a:spcPts val="35"/>
              </a:spcBef>
            </a:pPr>
            <a:endParaRPr sz="1350" dirty="0">
              <a:latin typeface="Calibri"/>
              <a:cs typeface="Calibri"/>
            </a:endParaRPr>
          </a:p>
          <a:p>
            <a:pPr marL="12700" algn="just">
              <a:lnSpc>
                <a:spcPct val="100000"/>
              </a:lnSpc>
            </a:pPr>
            <a:r>
              <a:rPr sz="1400" b="1" dirty="0">
                <a:solidFill>
                  <a:srgbClr val="FA7D1A"/>
                </a:solidFill>
                <a:latin typeface="Calibri"/>
                <a:cs typeface="Calibri"/>
              </a:rPr>
              <a:t>AMBIENTAL</a:t>
            </a:r>
            <a:r>
              <a:rPr sz="1400" dirty="0">
                <a:solidFill>
                  <a:srgbClr val="5E5C5D"/>
                </a:solidFill>
                <a:latin typeface="Calibri"/>
                <a:cs typeface="Calibri"/>
              </a:rPr>
              <a:t>:</a:t>
            </a:r>
            <a:r>
              <a:rPr lang="es-ES" sz="1400" spc="245" dirty="0">
                <a:solidFill>
                  <a:srgbClr val="5E5C5D"/>
                </a:solidFill>
                <a:latin typeface="Calibri"/>
                <a:cs typeface="Calibri"/>
              </a:rPr>
              <a:t> Mejora el ambiente laboral y social</a:t>
            </a:r>
            <a:r>
              <a:rPr sz="1400" spc="-10" dirty="0">
                <a:solidFill>
                  <a:srgbClr val="5E5C5D"/>
                </a:solidFill>
                <a:latin typeface="Calibri"/>
                <a:cs typeface="Calibri"/>
              </a:rPr>
              <a:t>.</a:t>
            </a:r>
            <a:endParaRPr sz="1400" dirty="0">
              <a:latin typeface="Calibri"/>
              <a:cs typeface="Calibri"/>
            </a:endParaRPr>
          </a:p>
        </p:txBody>
      </p:sp>
      <p:sp>
        <p:nvSpPr>
          <p:cNvPr id="10" name="object 10"/>
          <p:cNvSpPr txBox="1"/>
          <p:nvPr/>
        </p:nvSpPr>
        <p:spPr>
          <a:xfrm>
            <a:off x="4291965" y="3457701"/>
            <a:ext cx="3726179" cy="442429"/>
          </a:xfrm>
          <a:prstGeom prst="rect">
            <a:avLst/>
          </a:prstGeom>
        </p:spPr>
        <p:txBody>
          <a:bodyPr vert="horz" wrap="square" lIns="0" tIns="11430" rIns="0" bIns="0" rtlCol="0">
            <a:spAutoFit/>
          </a:bodyPr>
          <a:lstStyle/>
          <a:p>
            <a:pPr marL="12700" marR="5080">
              <a:lnSpc>
                <a:spcPct val="100000"/>
              </a:lnSpc>
              <a:spcBef>
                <a:spcPts val="90"/>
              </a:spcBef>
            </a:pPr>
            <a:r>
              <a:rPr sz="1400" b="1" dirty="0">
                <a:solidFill>
                  <a:srgbClr val="FA7D1A"/>
                </a:solidFill>
                <a:latin typeface="Calibri"/>
                <a:cs typeface="Calibri"/>
              </a:rPr>
              <a:t>TECNOLÓGICOS</a:t>
            </a:r>
            <a:r>
              <a:rPr sz="1400" dirty="0">
                <a:solidFill>
                  <a:srgbClr val="5E5C5D"/>
                </a:solidFill>
                <a:latin typeface="Calibri"/>
                <a:cs typeface="Calibri"/>
              </a:rPr>
              <a:t>:</a:t>
            </a:r>
            <a:r>
              <a:rPr lang="es-ES" sz="1400" dirty="0">
                <a:solidFill>
                  <a:srgbClr val="5E5C5D"/>
                </a:solidFill>
                <a:latin typeface="Calibri"/>
                <a:cs typeface="Calibri"/>
              </a:rPr>
              <a:t> ayuda a los trabajadores con el manejo y comunión con la tecnología</a:t>
            </a:r>
            <a:r>
              <a:rPr sz="1400" spc="-10" dirty="0">
                <a:solidFill>
                  <a:srgbClr val="5E5C5D"/>
                </a:solidFill>
                <a:latin typeface="Calibri"/>
                <a:cs typeface="Calibri"/>
              </a:rPr>
              <a:t>.</a:t>
            </a:r>
            <a:endParaRPr sz="1400"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48547" y="4959502"/>
            <a:ext cx="619125" cy="146685"/>
          </a:xfrm>
          <a:prstGeom prst="rect">
            <a:avLst/>
          </a:prstGeom>
        </p:spPr>
        <p:txBody>
          <a:bodyPr vert="horz" wrap="square" lIns="0" tIns="12065" rIns="0" bIns="0" rtlCol="0">
            <a:spAutoFit/>
          </a:bodyPr>
          <a:lstStyle/>
          <a:p>
            <a:pPr marL="12700">
              <a:lnSpc>
                <a:spcPct val="100000"/>
              </a:lnSpc>
              <a:spcBef>
                <a:spcPts val="95"/>
              </a:spcBef>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43999" cy="5145023"/>
          </a:xfrm>
          <a:prstGeom prst="rect">
            <a:avLst/>
          </a:prstGeom>
        </p:spPr>
      </p:pic>
      <p:sp>
        <p:nvSpPr>
          <p:cNvPr id="4" name="object 4"/>
          <p:cNvSpPr txBox="1"/>
          <p:nvPr/>
        </p:nvSpPr>
        <p:spPr>
          <a:xfrm>
            <a:off x="612444" y="2028570"/>
            <a:ext cx="1991360"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Calibri"/>
                <a:cs typeface="Calibri"/>
              </a:rPr>
              <a:t>RESTRICCIONES</a:t>
            </a:r>
            <a:endParaRPr sz="2400">
              <a:latin typeface="Calibri"/>
              <a:cs typeface="Calibri"/>
            </a:endParaRP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a:spLocks noGrp="1"/>
          </p:cNvSpPr>
          <p:nvPr>
            <p:ph type="title"/>
          </p:nvPr>
        </p:nvSpPr>
        <p:spPr>
          <a:xfrm>
            <a:off x="4404105" y="713358"/>
            <a:ext cx="3728085" cy="878205"/>
          </a:xfrm>
          <a:prstGeom prst="rect">
            <a:avLst/>
          </a:prstGeom>
        </p:spPr>
        <p:txBody>
          <a:bodyPr vert="horz" wrap="square" lIns="0" tIns="11430" rIns="0" bIns="0" rtlCol="0">
            <a:spAutoFit/>
          </a:bodyPr>
          <a:lstStyle/>
          <a:p>
            <a:pPr marL="12700" marR="5080" algn="just">
              <a:lnSpc>
                <a:spcPct val="100000"/>
              </a:lnSpc>
              <a:spcBef>
                <a:spcPts val="90"/>
              </a:spcBef>
            </a:pPr>
            <a:r>
              <a:rPr sz="1400" b="0" dirty="0">
                <a:solidFill>
                  <a:srgbClr val="5E5C5D"/>
                </a:solidFill>
                <a:latin typeface="Calibri"/>
                <a:cs typeface="Calibri"/>
              </a:rPr>
              <a:t>Como</a:t>
            </a:r>
            <a:r>
              <a:rPr sz="1400" b="0" spc="140" dirty="0">
                <a:solidFill>
                  <a:srgbClr val="5E5C5D"/>
                </a:solidFill>
                <a:latin typeface="Calibri"/>
                <a:cs typeface="Calibri"/>
              </a:rPr>
              <a:t> </a:t>
            </a:r>
            <a:r>
              <a:rPr sz="1400" b="0" dirty="0">
                <a:solidFill>
                  <a:srgbClr val="5E5C5D"/>
                </a:solidFill>
                <a:latin typeface="Calibri"/>
                <a:cs typeface="Calibri"/>
              </a:rPr>
              <a:t>cualquier</a:t>
            </a:r>
            <a:r>
              <a:rPr sz="1400" b="0" spc="140" dirty="0">
                <a:solidFill>
                  <a:srgbClr val="5E5C5D"/>
                </a:solidFill>
                <a:latin typeface="Calibri"/>
                <a:cs typeface="Calibri"/>
              </a:rPr>
              <a:t> </a:t>
            </a:r>
            <a:r>
              <a:rPr sz="1400" b="0" dirty="0">
                <a:solidFill>
                  <a:srgbClr val="5E5C5D"/>
                </a:solidFill>
                <a:latin typeface="Calibri"/>
                <a:cs typeface="Calibri"/>
              </a:rPr>
              <a:t>empresa,</a:t>
            </a:r>
            <a:r>
              <a:rPr sz="1400" b="0" spc="150" dirty="0">
                <a:solidFill>
                  <a:srgbClr val="5E5C5D"/>
                </a:solidFill>
                <a:latin typeface="Calibri"/>
                <a:cs typeface="Calibri"/>
              </a:rPr>
              <a:t> </a:t>
            </a:r>
            <a:r>
              <a:rPr sz="1400" b="0" dirty="0">
                <a:solidFill>
                  <a:srgbClr val="5E5C5D"/>
                </a:solidFill>
                <a:latin typeface="Calibri"/>
                <a:cs typeface="Calibri"/>
              </a:rPr>
              <a:t>los</a:t>
            </a:r>
            <a:r>
              <a:rPr sz="1400" b="0" spc="145" dirty="0">
                <a:solidFill>
                  <a:srgbClr val="5E5C5D"/>
                </a:solidFill>
                <a:latin typeface="Calibri"/>
                <a:cs typeface="Calibri"/>
              </a:rPr>
              <a:t> </a:t>
            </a:r>
            <a:r>
              <a:rPr sz="1400" b="0" dirty="0">
                <a:solidFill>
                  <a:srgbClr val="5E5C5D"/>
                </a:solidFill>
                <a:latin typeface="Calibri"/>
                <a:cs typeface="Calibri"/>
              </a:rPr>
              <a:t>proyectos</a:t>
            </a:r>
            <a:r>
              <a:rPr sz="1400" b="0" spc="145" dirty="0">
                <a:solidFill>
                  <a:srgbClr val="5E5C5D"/>
                </a:solidFill>
                <a:latin typeface="Calibri"/>
                <a:cs typeface="Calibri"/>
              </a:rPr>
              <a:t> </a:t>
            </a:r>
            <a:r>
              <a:rPr sz="1400" b="0" spc="-10" dirty="0">
                <a:solidFill>
                  <a:srgbClr val="5E5C5D"/>
                </a:solidFill>
                <a:latin typeface="Calibri"/>
                <a:cs typeface="Calibri"/>
              </a:rPr>
              <a:t>necesitan </a:t>
            </a:r>
            <a:r>
              <a:rPr sz="1400" b="0" dirty="0">
                <a:solidFill>
                  <a:srgbClr val="5E5C5D"/>
                </a:solidFill>
                <a:latin typeface="Calibri"/>
                <a:cs typeface="Calibri"/>
              </a:rPr>
              <a:t>ser</a:t>
            </a:r>
            <a:r>
              <a:rPr sz="1400" b="0" spc="445" dirty="0">
                <a:solidFill>
                  <a:srgbClr val="5E5C5D"/>
                </a:solidFill>
                <a:latin typeface="Calibri"/>
                <a:cs typeface="Calibri"/>
              </a:rPr>
              <a:t>  </a:t>
            </a:r>
            <a:r>
              <a:rPr sz="1400" b="0" dirty="0">
                <a:solidFill>
                  <a:srgbClr val="5E5C5D"/>
                </a:solidFill>
                <a:latin typeface="Calibri"/>
                <a:cs typeface="Calibri"/>
              </a:rPr>
              <a:t>ejecutados</a:t>
            </a:r>
            <a:r>
              <a:rPr sz="1400" b="0" spc="459" dirty="0">
                <a:solidFill>
                  <a:srgbClr val="5E5C5D"/>
                </a:solidFill>
                <a:latin typeface="Calibri"/>
                <a:cs typeface="Calibri"/>
              </a:rPr>
              <a:t>  </a:t>
            </a:r>
            <a:r>
              <a:rPr sz="1400" b="0" dirty="0">
                <a:solidFill>
                  <a:srgbClr val="5E5C5D"/>
                </a:solidFill>
                <a:latin typeface="Calibri"/>
                <a:cs typeface="Calibri"/>
              </a:rPr>
              <a:t>y</a:t>
            </a:r>
            <a:r>
              <a:rPr sz="1400" b="0" spc="445" dirty="0">
                <a:solidFill>
                  <a:srgbClr val="5E5C5D"/>
                </a:solidFill>
                <a:latin typeface="Calibri"/>
                <a:cs typeface="Calibri"/>
              </a:rPr>
              <a:t>  </a:t>
            </a:r>
            <a:r>
              <a:rPr sz="1400" b="0" dirty="0">
                <a:solidFill>
                  <a:srgbClr val="5E5C5D"/>
                </a:solidFill>
                <a:latin typeface="Calibri"/>
                <a:cs typeface="Calibri"/>
              </a:rPr>
              <a:t>entregados</a:t>
            </a:r>
            <a:r>
              <a:rPr sz="1400" b="0" spc="459" dirty="0">
                <a:solidFill>
                  <a:srgbClr val="5E5C5D"/>
                </a:solidFill>
                <a:latin typeface="Calibri"/>
                <a:cs typeface="Calibri"/>
              </a:rPr>
              <a:t>  </a:t>
            </a:r>
            <a:r>
              <a:rPr sz="1400" b="0" dirty="0">
                <a:solidFill>
                  <a:srgbClr val="5E5C5D"/>
                </a:solidFill>
                <a:latin typeface="Calibri"/>
                <a:cs typeface="Calibri"/>
              </a:rPr>
              <a:t>bajo</a:t>
            </a:r>
            <a:r>
              <a:rPr sz="1400" b="0" spc="455" dirty="0">
                <a:solidFill>
                  <a:srgbClr val="5E5C5D"/>
                </a:solidFill>
                <a:latin typeface="Calibri"/>
                <a:cs typeface="Calibri"/>
              </a:rPr>
              <a:t>  </a:t>
            </a:r>
            <a:r>
              <a:rPr sz="1400" b="0" spc="-10" dirty="0">
                <a:solidFill>
                  <a:srgbClr val="5E5C5D"/>
                </a:solidFill>
                <a:latin typeface="Calibri"/>
                <a:cs typeface="Calibri"/>
              </a:rPr>
              <a:t>ciertas </a:t>
            </a:r>
            <a:r>
              <a:rPr sz="1400" b="0" dirty="0">
                <a:solidFill>
                  <a:srgbClr val="5E5C5D"/>
                </a:solidFill>
                <a:latin typeface="Calibri"/>
                <a:cs typeface="Calibri"/>
              </a:rPr>
              <a:t>restricciones.</a:t>
            </a:r>
            <a:r>
              <a:rPr sz="1400" b="0" spc="25" dirty="0">
                <a:solidFill>
                  <a:srgbClr val="5E5C5D"/>
                </a:solidFill>
                <a:latin typeface="Calibri"/>
                <a:cs typeface="Calibri"/>
              </a:rPr>
              <a:t> </a:t>
            </a:r>
            <a:r>
              <a:rPr sz="1400" b="0" spc="-10" dirty="0">
                <a:solidFill>
                  <a:srgbClr val="5E5C5D"/>
                </a:solidFill>
                <a:latin typeface="Calibri"/>
                <a:cs typeface="Calibri"/>
              </a:rPr>
              <a:t>Tradicionalmente,</a:t>
            </a:r>
            <a:r>
              <a:rPr sz="1400" b="0" spc="45" dirty="0">
                <a:solidFill>
                  <a:srgbClr val="5E5C5D"/>
                </a:solidFill>
                <a:latin typeface="Calibri"/>
                <a:cs typeface="Calibri"/>
              </a:rPr>
              <a:t> </a:t>
            </a:r>
            <a:r>
              <a:rPr sz="1400" b="0" dirty="0">
                <a:solidFill>
                  <a:srgbClr val="5E5C5D"/>
                </a:solidFill>
                <a:latin typeface="Calibri"/>
                <a:cs typeface="Calibri"/>
              </a:rPr>
              <a:t>estas</a:t>
            </a:r>
            <a:r>
              <a:rPr sz="1400" b="0" spc="30" dirty="0">
                <a:solidFill>
                  <a:srgbClr val="5E5C5D"/>
                </a:solidFill>
                <a:latin typeface="Calibri"/>
                <a:cs typeface="Calibri"/>
              </a:rPr>
              <a:t> </a:t>
            </a:r>
            <a:r>
              <a:rPr sz="1400" b="0" spc="-10" dirty="0">
                <a:solidFill>
                  <a:srgbClr val="5E5C5D"/>
                </a:solidFill>
                <a:latin typeface="Calibri"/>
                <a:cs typeface="Calibri"/>
              </a:rPr>
              <a:t>restricciones </a:t>
            </a:r>
            <a:r>
              <a:rPr sz="1400" b="0" dirty="0">
                <a:solidFill>
                  <a:srgbClr val="5E5C5D"/>
                </a:solidFill>
                <a:latin typeface="Calibri"/>
                <a:cs typeface="Calibri"/>
              </a:rPr>
              <a:t>han</a:t>
            </a:r>
            <a:r>
              <a:rPr sz="1400" b="0" spc="-15" dirty="0">
                <a:solidFill>
                  <a:srgbClr val="5E5C5D"/>
                </a:solidFill>
                <a:latin typeface="Calibri"/>
                <a:cs typeface="Calibri"/>
              </a:rPr>
              <a:t> </a:t>
            </a:r>
            <a:r>
              <a:rPr sz="1400" b="0" dirty="0">
                <a:solidFill>
                  <a:srgbClr val="5E5C5D"/>
                </a:solidFill>
                <a:latin typeface="Calibri"/>
                <a:cs typeface="Calibri"/>
              </a:rPr>
              <a:t>sido</a:t>
            </a:r>
            <a:r>
              <a:rPr sz="1400" b="0" spc="-25" dirty="0">
                <a:solidFill>
                  <a:srgbClr val="5E5C5D"/>
                </a:solidFill>
                <a:latin typeface="Calibri"/>
                <a:cs typeface="Calibri"/>
              </a:rPr>
              <a:t> </a:t>
            </a:r>
            <a:r>
              <a:rPr sz="1400" b="0" dirty="0">
                <a:solidFill>
                  <a:srgbClr val="5E5C5D"/>
                </a:solidFill>
                <a:latin typeface="Calibri"/>
                <a:cs typeface="Calibri"/>
              </a:rPr>
              <a:t>alcance,</a:t>
            </a:r>
            <a:r>
              <a:rPr sz="1400" b="0" spc="-55" dirty="0">
                <a:solidFill>
                  <a:srgbClr val="5E5C5D"/>
                </a:solidFill>
                <a:latin typeface="Calibri"/>
                <a:cs typeface="Calibri"/>
              </a:rPr>
              <a:t> </a:t>
            </a:r>
            <a:r>
              <a:rPr sz="1400" b="0" dirty="0">
                <a:solidFill>
                  <a:srgbClr val="5E5C5D"/>
                </a:solidFill>
                <a:latin typeface="Calibri"/>
                <a:cs typeface="Calibri"/>
              </a:rPr>
              <a:t>tiempo</a:t>
            </a:r>
            <a:r>
              <a:rPr sz="1400" b="0" spc="20" dirty="0">
                <a:solidFill>
                  <a:srgbClr val="5E5C5D"/>
                </a:solidFill>
                <a:latin typeface="Calibri"/>
                <a:cs typeface="Calibri"/>
              </a:rPr>
              <a:t> </a:t>
            </a:r>
            <a:r>
              <a:rPr sz="1400" b="0" dirty="0">
                <a:solidFill>
                  <a:srgbClr val="5E5C5D"/>
                </a:solidFill>
                <a:latin typeface="Calibri"/>
                <a:cs typeface="Calibri"/>
              </a:rPr>
              <a:t>y</a:t>
            </a:r>
            <a:r>
              <a:rPr sz="1400" b="0" spc="-50" dirty="0">
                <a:solidFill>
                  <a:srgbClr val="5E5C5D"/>
                </a:solidFill>
                <a:latin typeface="Calibri"/>
                <a:cs typeface="Calibri"/>
              </a:rPr>
              <a:t> </a:t>
            </a:r>
            <a:r>
              <a:rPr sz="1400" b="0" spc="-10" dirty="0">
                <a:solidFill>
                  <a:srgbClr val="5E5C5D"/>
                </a:solidFill>
                <a:latin typeface="Calibri"/>
                <a:cs typeface="Calibri"/>
              </a:rPr>
              <a:t>costo.</a:t>
            </a:r>
            <a:endParaRPr sz="1400">
              <a:latin typeface="Calibri"/>
              <a:cs typeface="Calibri"/>
            </a:endParaRPr>
          </a:p>
        </p:txBody>
      </p:sp>
      <p:sp>
        <p:nvSpPr>
          <p:cNvPr id="7" name="object 7"/>
          <p:cNvSpPr txBox="1"/>
          <p:nvPr/>
        </p:nvSpPr>
        <p:spPr>
          <a:xfrm>
            <a:off x="4404105" y="1780794"/>
            <a:ext cx="3728720" cy="451484"/>
          </a:xfrm>
          <a:prstGeom prst="rect">
            <a:avLst/>
          </a:prstGeom>
        </p:spPr>
        <p:txBody>
          <a:bodyPr vert="horz" wrap="square" lIns="0" tIns="11430" rIns="0" bIns="0" rtlCol="0">
            <a:spAutoFit/>
          </a:bodyPr>
          <a:lstStyle/>
          <a:p>
            <a:pPr marL="12700">
              <a:lnSpc>
                <a:spcPct val="100000"/>
              </a:lnSpc>
              <a:spcBef>
                <a:spcPts val="90"/>
              </a:spcBef>
            </a:pPr>
            <a:r>
              <a:rPr sz="1400" dirty="0">
                <a:solidFill>
                  <a:srgbClr val="5E5C5D"/>
                </a:solidFill>
                <a:latin typeface="Calibri"/>
                <a:cs typeface="Calibri"/>
              </a:rPr>
              <a:t>La</a:t>
            </a:r>
            <a:r>
              <a:rPr sz="1400" spc="30" dirty="0">
                <a:solidFill>
                  <a:srgbClr val="5E5C5D"/>
                </a:solidFill>
                <a:latin typeface="Calibri"/>
                <a:cs typeface="Calibri"/>
              </a:rPr>
              <a:t> </a:t>
            </a:r>
            <a:r>
              <a:rPr sz="1400" dirty="0">
                <a:solidFill>
                  <a:srgbClr val="5E5C5D"/>
                </a:solidFill>
                <a:latin typeface="Calibri"/>
                <a:cs typeface="Calibri"/>
              </a:rPr>
              <a:t>restricción</a:t>
            </a:r>
            <a:r>
              <a:rPr sz="1400" spc="35" dirty="0">
                <a:solidFill>
                  <a:srgbClr val="5E5C5D"/>
                </a:solidFill>
                <a:latin typeface="Calibri"/>
                <a:cs typeface="Calibri"/>
              </a:rPr>
              <a:t> </a:t>
            </a:r>
            <a:r>
              <a:rPr sz="1400" dirty="0">
                <a:solidFill>
                  <a:srgbClr val="5E5C5D"/>
                </a:solidFill>
                <a:latin typeface="Calibri"/>
                <a:cs typeface="Calibri"/>
              </a:rPr>
              <a:t>de</a:t>
            </a:r>
            <a:r>
              <a:rPr sz="1400" spc="30" dirty="0">
                <a:solidFill>
                  <a:srgbClr val="5E5C5D"/>
                </a:solidFill>
                <a:latin typeface="Calibri"/>
                <a:cs typeface="Calibri"/>
              </a:rPr>
              <a:t> </a:t>
            </a:r>
            <a:r>
              <a:rPr sz="1400" dirty="0">
                <a:solidFill>
                  <a:srgbClr val="5E5C5D"/>
                </a:solidFill>
                <a:latin typeface="Calibri"/>
                <a:cs typeface="Calibri"/>
              </a:rPr>
              <a:t>tiempo</a:t>
            </a:r>
            <a:r>
              <a:rPr sz="1400" spc="20" dirty="0">
                <a:solidFill>
                  <a:srgbClr val="5E5C5D"/>
                </a:solidFill>
                <a:latin typeface="Calibri"/>
                <a:cs typeface="Calibri"/>
              </a:rPr>
              <a:t> </a:t>
            </a:r>
            <a:r>
              <a:rPr sz="1400" dirty="0">
                <a:solidFill>
                  <a:srgbClr val="5E5C5D"/>
                </a:solidFill>
                <a:latin typeface="Calibri"/>
                <a:cs typeface="Calibri"/>
              </a:rPr>
              <a:t>se</a:t>
            </a:r>
            <a:r>
              <a:rPr sz="1400" spc="35" dirty="0">
                <a:solidFill>
                  <a:srgbClr val="5E5C5D"/>
                </a:solidFill>
                <a:latin typeface="Calibri"/>
                <a:cs typeface="Calibri"/>
              </a:rPr>
              <a:t> </a:t>
            </a:r>
            <a:r>
              <a:rPr sz="1400" dirty="0">
                <a:solidFill>
                  <a:srgbClr val="5E5C5D"/>
                </a:solidFill>
                <a:latin typeface="Calibri"/>
                <a:cs typeface="Calibri"/>
              </a:rPr>
              <a:t>refiere</a:t>
            </a:r>
            <a:r>
              <a:rPr sz="1400" spc="10" dirty="0">
                <a:solidFill>
                  <a:srgbClr val="5E5C5D"/>
                </a:solidFill>
                <a:latin typeface="Calibri"/>
                <a:cs typeface="Calibri"/>
              </a:rPr>
              <a:t> </a:t>
            </a:r>
            <a:r>
              <a:rPr sz="1400" dirty="0">
                <a:solidFill>
                  <a:srgbClr val="5E5C5D"/>
                </a:solidFill>
                <a:latin typeface="Calibri"/>
                <a:cs typeface="Calibri"/>
              </a:rPr>
              <a:t>a</a:t>
            </a:r>
            <a:r>
              <a:rPr sz="1400" spc="35" dirty="0">
                <a:solidFill>
                  <a:srgbClr val="5E5C5D"/>
                </a:solidFill>
                <a:latin typeface="Calibri"/>
                <a:cs typeface="Calibri"/>
              </a:rPr>
              <a:t> </a:t>
            </a:r>
            <a:r>
              <a:rPr sz="1400" dirty="0">
                <a:solidFill>
                  <a:srgbClr val="5E5C5D"/>
                </a:solidFill>
                <a:latin typeface="Calibri"/>
                <a:cs typeface="Calibri"/>
              </a:rPr>
              <a:t>la</a:t>
            </a:r>
            <a:r>
              <a:rPr sz="1400" spc="20" dirty="0">
                <a:solidFill>
                  <a:srgbClr val="5E5C5D"/>
                </a:solidFill>
                <a:latin typeface="Calibri"/>
                <a:cs typeface="Calibri"/>
              </a:rPr>
              <a:t> </a:t>
            </a:r>
            <a:r>
              <a:rPr sz="1400" dirty="0">
                <a:solidFill>
                  <a:srgbClr val="5E5C5D"/>
                </a:solidFill>
                <a:latin typeface="Calibri"/>
                <a:cs typeface="Calibri"/>
              </a:rPr>
              <a:t>cantidad</a:t>
            </a:r>
            <a:r>
              <a:rPr sz="1400" spc="25" dirty="0">
                <a:solidFill>
                  <a:srgbClr val="5E5C5D"/>
                </a:solidFill>
                <a:latin typeface="Calibri"/>
                <a:cs typeface="Calibri"/>
              </a:rPr>
              <a:t> </a:t>
            </a:r>
            <a:r>
              <a:rPr sz="1400" spc="-25" dirty="0">
                <a:solidFill>
                  <a:srgbClr val="5E5C5D"/>
                </a:solidFill>
                <a:latin typeface="Calibri"/>
                <a:cs typeface="Calibri"/>
              </a:rPr>
              <a:t>de</a:t>
            </a:r>
            <a:endParaRPr sz="1400">
              <a:latin typeface="Calibri"/>
              <a:cs typeface="Calibri"/>
            </a:endParaRPr>
          </a:p>
          <a:p>
            <a:pPr marL="12700">
              <a:lnSpc>
                <a:spcPct val="100000"/>
              </a:lnSpc>
            </a:pPr>
            <a:r>
              <a:rPr sz="1400" dirty="0">
                <a:solidFill>
                  <a:srgbClr val="5E5C5D"/>
                </a:solidFill>
                <a:latin typeface="Calibri"/>
                <a:cs typeface="Calibri"/>
              </a:rPr>
              <a:t>tiempo</a:t>
            </a:r>
            <a:r>
              <a:rPr sz="1400" spc="-45" dirty="0">
                <a:solidFill>
                  <a:srgbClr val="5E5C5D"/>
                </a:solidFill>
                <a:latin typeface="Calibri"/>
                <a:cs typeface="Calibri"/>
              </a:rPr>
              <a:t> </a:t>
            </a:r>
            <a:r>
              <a:rPr sz="1400" dirty="0">
                <a:solidFill>
                  <a:srgbClr val="5E5C5D"/>
                </a:solidFill>
                <a:latin typeface="Calibri"/>
                <a:cs typeface="Calibri"/>
              </a:rPr>
              <a:t>disponible</a:t>
            </a:r>
            <a:r>
              <a:rPr sz="1400" spc="15" dirty="0">
                <a:solidFill>
                  <a:srgbClr val="5E5C5D"/>
                </a:solidFill>
                <a:latin typeface="Calibri"/>
                <a:cs typeface="Calibri"/>
              </a:rPr>
              <a:t> </a:t>
            </a:r>
            <a:r>
              <a:rPr sz="1400" dirty="0">
                <a:solidFill>
                  <a:srgbClr val="5E5C5D"/>
                </a:solidFill>
                <a:latin typeface="Calibri"/>
                <a:cs typeface="Calibri"/>
              </a:rPr>
              <a:t>para</a:t>
            </a:r>
            <a:r>
              <a:rPr sz="1400" spc="-65" dirty="0">
                <a:solidFill>
                  <a:srgbClr val="5E5C5D"/>
                </a:solidFill>
                <a:latin typeface="Calibri"/>
                <a:cs typeface="Calibri"/>
              </a:rPr>
              <a:t> </a:t>
            </a:r>
            <a:r>
              <a:rPr sz="1400" dirty="0">
                <a:solidFill>
                  <a:srgbClr val="5E5C5D"/>
                </a:solidFill>
                <a:latin typeface="Calibri"/>
                <a:cs typeface="Calibri"/>
              </a:rPr>
              <a:t>completar</a:t>
            </a:r>
            <a:r>
              <a:rPr sz="1400" spc="-40" dirty="0">
                <a:solidFill>
                  <a:srgbClr val="5E5C5D"/>
                </a:solidFill>
                <a:latin typeface="Calibri"/>
                <a:cs typeface="Calibri"/>
              </a:rPr>
              <a:t> </a:t>
            </a:r>
            <a:r>
              <a:rPr sz="1400" dirty="0">
                <a:solidFill>
                  <a:srgbClr val="5E5C5D"/>
                </a:solidFill>
                <a:latin typeface="Calibri"/>
                <a:cs typeface="Calibri"/>
              </a:rPr>
              <a:t>un</a:t>
            </a:r>
            <a:r>
              <a:rPr sz="1400" spc="-75" dirty="0">
                <a:solidFill>
                  <a:srgbClr val="5E5C5D"/>
                </a:solidFill>
                <a:latin typeface="Calibri"/>
                <a:cs typeface="Calibri"/>
              </a:rPr>
              <a:t> </a:t>
            </a:r>
            <a:r>
              <a:rPr sz="1400" spc="-10" dirty="0">
                <a:solidFill>
                  <a:srgbClr val="5E5C5D"/>
                </a:solidFill>
                <a:latin typeface="Calibri"/>
                <a:cs typeface="Calibri"/>
              </a:rPr>
              <a:t>proyecto.</a:t>
            </a:r>
            <a:endParaRPr sz="1400">
              <a:latin typeface="Calibri"/>
              <a:cs typeface="Calibri"/>
            </a:endParaRPr>
          </a:p>
        </p:txBody>
      </p:sp>
      <p:sp>
        <p:nvSpPr>
          <p:cNvPr id="8" name="object 8"/>
          <p:cNvSpPr txBox="1">
            <a:spLocks noGrp="1"/>
          </p:cNvSpPr>
          <p:nvPr>
            <p:ph type="body" idx="1"/>
          </p:nvPr>
        </p:nvSpPr>
        <p:spPr>
          <a:prstGeom prst="rect">
            <a:avLst/>
          </a:prstGeom>
        </p:spPr>
        <p:txBody>
          <a:bodyPr vert="horz" wrap="square" lIns="0" tIns="12065" rIns="0" bIns="0" rtlCol="0">
            <a:spAutoFit/>
          </a:bodyPr>
          <a:lstStyle/>
          <a:p>
            <a:pPr marL="12700">
              <a:lnSpc>
                <a:spcPct val="100000"/>
              </a:lnSpc>
              <a:spcBef>
                <a:spcPts val="95"/>
              </a:spcBef>
            </a:pPr>
            <a:r>
              <a:rPr dirty="0"/>
              <a:t>La</a:t>
            </a:r>
            <a:r>
              <a:rPr spc="365" dirty="0"/>
              <a:t> </a:t>
            </a:r>
            <a:r>
              <a:rPr dirty="0"/>
              <a:t>restricción</a:t>
            </a:r>
            <a:r>
              <a:rPr spc="360" dirty="0"/>
              <a:t> </a:t>
            </a:r>
            <a:r>
              <a:rPr dirty="0"/>
              <a:t>de</a:t>
            </a:r>
            <a:r>
              <a:rPr spc="365" dirty="0"/>
              <a:t> </a:t>
            </a:r>
            <a:r>
              <a:rPr dirty="0"/>
              <a:t>costo</a:t>
            </a:r>
            <a:r>
              <a:rPr spc="370" dirty="0"/>
              <a:t> </a:t>
            </a:r>
            <a:r>
              <a:rPr dirty="0"/>
              <a:t>se</a:t>
            </a:r>
            <a:r>
              <a:rPr spc="390" dirty="0"/>
              <a:t> </a:t>
            </a:r>
            <a:r>
              <a:rPr dirty="0"/>
              <a:t>refiere</a:t>
            </a:r>
            <a:r>
              <a:rPr spc="365" dirty="0"/>
              <a:t> </a:t>
            </a:r>
            <a:r>
              <a:rPr dirty="0"/>
              <a:t>a</a:t>
            </a:r>
            <a:r>
              <a:rPr spc="390" dirty="0"/>
              <a:t> </a:t>
            </a:r>
            <a:r>
              <a:rPr dirty="0"/>
              <a:t>la</a:t>
            </a:r>
            <a:r>
              <a:rPr spc="395" dirty="0"/>
              <a:t> </a:t>
            </a:r>
            <a:r>
              <a:rPr spc="-10" dirty="0"/>
              <a:t>cantidad</a:t>
            </a:r>
          </a:p>
          <a:p>
            <a:pPr marL="12700">
              <a:lnSpc>
                <a:spcPct val="100000"/>
              </a:lnSpc>
            </a:pPr>
            <a:r>
              <a:rPr spc="-10" dirty="0"/>
              <a:t>presupuestada</a:t>
            </a:r>
            <a:r>
              <a:rPr spc="55" dirty="0"/>
              <a:t> </a:t>
            </a:r>
            <a:r>
              <a:rPr dirty="0"/>
              <a:t>para</a:t>
            </a:r>
            <a:r>
              <a:rPr spc="-30" dirty="0"/>
              <a:t> </a:t>
            </a:r>
            <a:r>
              <a:rPr dirty="0"/>
              <a:t>el</a:t>
            </a:r>
            <a:r>
              <a:rPr spc="-40" dirty="0"/>
              <a:t> </a:t>
            </a:r>
            <a:r>
              <a:rPr spc="-10" dirty="0"/>
              <a:t>proyecto.</a:t>
            </a:r>
          </a:p>
          <a:p>
            <a:pPr>
              <a:lnSpc>
                <a:spcPct val="100000"/>
              </a:lnSpc>
              <a:spcBef>
                <a:spcPts val="30"/>
              </a:spcBef>
            </a:pPr>
            <a:endParaRPr sz="1350"/>
          </a:p>
          <a:p>
            <a:pPr marL="12700">
              <a:lnSpc>
                <a:spcPct val="100000"/>
              </a:lnSpc>
            </a:pPr>
            <a:r>
              <a:rPr dirty="0"/>
              <a:t>La</a:t>
            </a:r>
            <a:r>
              <a:rPr spc="-25" dirty="0"/>
              <a:t> </a:t>
            </a:r>
            <a:r>
              <a:rPr spc="-10" dirty="0"/>
              <a:t>restricción</a:t>
            </a:r>
            <a:r>
              <a:rPr spc="-5" dirty="0"/>
              <a:t> </a:t>
            </a:r>
            <a:r>
              <a:rPr dirty="0"/>
              <a:t>de alcance</a:t>
            </a:r>
            <a:r>
              <a:rPr spc="-15" dirty="0"/>
              <a:t> </a:t>
            </a:r>
            <a:r>
              <a:rPr dirty="0"/>
              <a:t>se</a:t>
            </a:r>
            <a:r>
              <a:rPr spc="-25" dirty="0"/>
              <a:t> </a:t>
            </a:r>
            <a:r>
              <a:rPr spc="-10" dirty="0"/>
              <a:t>refiere</a:t>
            </a:r>
            <a:r>
              <a:rPr spc="-20" dirty="0"/>
              <a:t> </a:t>
            </a:r>
            <a:r>
              <a:rPr dirty="0"/>
              <a:t>a</a:t>
            </a:r>
            <a:r>
              <a:rPr spc="5" dirty="0"/>
              <a:t> </a:t>
            </a:r>
            <a:r>
              <a:rPr dirty="0"/>
              <a:t>lo</a:t>
            </a:r>
            <a:r>
              <a:rPr spc="10" dirty="0"/>
              <a:t> </a:t>
            </a:r>
            <a:r>
              <a:rPr dirty="0"/>
              <a:t>que se</a:t>
            </a:r>
            <a:r>
              <a:rPr spc="-25" dirty="0"/>
              <a:t> </a:t>
            </a:r>
            <a:r>
              <a:rPr spc="-20" dirty="0"/>
              <a:t>debe</a:t>
            </a:r>
          </a:p>
          <a:p>
            <a:pPr marL="12700">
              <a:lnSpc>
                <a:spcPct val="100000"/>
              </a:lnSpc>
              <a:spcBef>
                <a:spcPts val="5"/>
              </a:spcBef>
            </a:pPr>
            <a:r>
              <a:rPr dirty="0"/>
              <a:t>hacer</a:t>
            </a:r>
            <a:r>
              <a:rPr spc="-40" dirty="0"/>
              <a:t> </a:t>
            </a:r>
            <a:r>
              <a:rPr dirty="0"/>
              <a:t>para</a:t>
            </a:r>
            <a:r>
              <a:rPr spc="-25" dirty="0"/>
              <a:t> </a:t>
            </a:r>
            <a:r>
              <a:rPr dirty="0"/>
              <a:t>producir</a:t>
            </a:r>
            <a:r>
              <a:rPr spc="5" dirty="0"/>
              <a:t> </a:t>
            </a:r>
            <a:r>
              <a:rPr dirty="0"/>
              <a:t>el</a:t>
            </a:r>
            <a:r>
              <a:rPr spc="-60" dirty="0"/>
              <a:t> </a:t>
            </a:r>
            <a:r>
              <a:rPr spc="-10" dirty="0"/>
              <a:t>resultado</a:t>
            </a:r>
            <a:r>
              <a:rPr spc="40" dirty="0"/>
              <a:t> </a:t>
            </a:r>
            <a:r>
              <a:rPr dirty="0"/>
              <a:t>final</a:t>
            </a:r>
            <a:r>
              <a:rPr spc="-20" dirty="0"/>
              <a:t> </a:t>
            </a:r>
            <a:r>
              <a:rPr dirty="0"/>
              <a:t>del</a:t>
            </a:r>
            <a:r>
              <a:rPr spc="-40" dirty="0"/>
              <a:t> </a:t>
            </a:r>
            <a:r>
              <a:rPr spc="-10" dirty="0"/>
              <a:t>proyecto.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61247" y="4997424"/>
            <a:ext cx="593725" cy="100965"/>
          </a:xfrm>
          <a:prstGeom prst="rect">
            <a:avLst/>
          </a:prstGeom>
        </p:spPr>
        <p:txBody>
          <a:bodyPr vert="horz" wrap="square" lIns="0" tIns="0" rIns="0" bIns="0" rtlCol="0">
            <a:spAutoFit/>
          </a:bodyPr>
          <a:lstStyle/>
          <a:p>
            <a:pPr>
              <a:lnSpc>
                <a:spcPts val="755"/>
              </a:lnSpc>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37904" cy="5145022"/>
          </a:xfrm>
          <a:prstGeom prst="rect">
            <a:avLst/>
          </a:prstGeom>
        </p:spPr>
      </p:pic>
      <p:sp>
        <p:nvSpPr>
          <p:cNvPr id="4" name="object 4"/>
          <p:cNvSpPr txBox="1"/>
          <p:nvPr/>
        </p:nvSpPr>
        <p:spPr>
          <a:xfrm>
            <a:off x="612444" y="2028570"/>
            <a:ext cx="1113790"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Calibri"/>
                <a:cs typeface="Calibri"/>
              </a:rPr>
              <a:t>RIESGOS</a:t>
            </a:r>
            <a:endParaRPr sz="2400">
              <a:latin typeface="Calibri"/>
              <a:cs typeface="Calibri"/>
            </a:endParaRP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a:spLocks noGrp="1"/>
          </p:cNvSpPr>
          <p:nvPr>
            <p:ph type="title"/>
          </p:nvPr>
        </p:nvSpPr>
        <p:spPr>
          <a:xfrm>
            <a:off x="4397502" y="897712"/>
            <a:ext cx="3726179" cy="443070"/>
          </a:xfrm>
          <a:prstGeom prst="rect">
            <a:avLst/>
          </a:prstGeom>
        </p:spPr>
        <p:txBody>
          <a:bodyPr vert="horz" wrap="square" lIns="0" tIns="12065" rIns="0" bIns="0" rtlCol="0">
            <a:spAutoFit/>
          </a:bodyPr>
          <a:lstStyle/>
          <a:p>
            <a:pPr marL="12700" marR="5080" algn="just">
              <a:lnSpc>
                <a:spcPct val="100000"/>
              </a:lnSpc>
              <a:spcBef>
                <a:spcPts val="95"/>
              </a:spcBef>
            </a:pPr>
            <a:r>
              <a:rPr lang="es-ES" sz="1400" b="0" spc="-10" dirty="0">
                <a:solidFill>
                  <a:srgbClr val="5E5C5D"/>
                </a:solidFill>
                <a:latin typeface="Calibri"/>
                <a:cs typeface="Calibri"/>
              </a:rPr>
              <a:t>Las posibles perdidas o riesgos q se pueden encontrar en </a:t>
            </a:r>
            <a:r>
              <a:rPr lang="es-ES" sz="1400" dirty="0">
                <a:solidFill>
                  <a:schemeClr val="tx1"/>
                </a:solidFill>
                <a:latin typeface="Calibri"/>
                <a:cs typeface="Calibri"/>
              </a:rPr>
              <a:t>Chekinpro</a:t>
            </a:r>
            <a:r>
              <a:rPr lang="es-ES" sz="1400" b="0" spc="-10" dirty="0">
                <a:solidFill>
                  <a:srgbClr val="5E5C5D"/>
                </a:solidFill>
                <a:latin typeface="Calibri"/>
                <a:cs typeface="Calibri"/>
              </a:rPr>
              <a:t> son</a:t>
            </a:r>
            <a:r>
              <a:rPr sz="1400" b="0" spc="-10" dirty="0">
                <a:solidFill>
                  <a:srgbClr val="5E5C5D"/>
                </a:solidFill>
                <a:latin typeface="Calibri"/>
                <a:cs typeface="Calibri"/>
              </a:rPr>
              <a:t>.</a:t>
            </a:r>
            <a:endParaRPr sz="1400" dirty="0">
              <a:latin typeface="Calibri"/>
              <a:cs typeface="Calibri"/>
            </a:endParaRPr>
          </a:p>
        </p:txBody>
      </p:sp>
      <p:sp>
        <p:nvSpPr>
          <p:cNvPr id="8" name="object 8"/>
          <p:cNvSpPr txBox="1"/>
          <p:nvPr/>
        </p:nvSpPr>
        <p:spPr>
          <a:xfrm>
            <a:off x="4397502" y="2179066"/>
            <a:ext cx="4517898" cy="1519647"/>
          </a:xfrm>
          <a:prstGeom prst="rect">
            <a:avLst/>
          </a:prstGeom>
        </p:spPr>
        <p:txBody>
          <a:bodyPr vert="horz" wrap="square" lIns="0" tIns="11430" rIns="0" bIns="0" rtlCol="0">
            <a:spAutoFit/>
          </a:bodyPr>
          <a:lstStyle/>
          <a:p>
            <a:pPr marL="299085" indent="-286385">
              <a:lnSpc>
                <a:spcPct val="100000"/>
              </a:lnSpc>
              <a:spcBef>
                <a:spcPts val="90"/>
              </a:spcBef>
              <a:buFont typeface="Arial MT"/>
              <a:buChar char="•"/>
              <a:tabLst>
                <a:tab pos="299085" algn="l"/>
              </a:tabLst>
            </a:pPr>
            <a:r>
              <a:rPr lang="es-ES" sz="1400" spc="-10" dirty="0">
                <a:solidFill>
                  <a:srgbClr val="5E5C5D"/>
                </a:solidFill>
                <a:latin typeface="Calibri"/>
                <a:cs typeface="Calibri"/>
              </a:rPr>
              <a:t>Confusión con usuarios que no manejen base de datos</a:t>
            </a:r>
            <a:endParaRPr sz="1400" dirty="0">
              <a:latin typeface="Calibri"/>
              <a:cs typeface="Calibri"/>
            </a:endParaRPr>
          </a:p>
          <a:p>
            <a:pPr marL="299085" indent="-286385">
              <a:lnSpc>
                <a:spcPct val="100000"/>
              </a:lnSpc>
              <a:buFont typeface="Arial MT"/>
              <a:buChar char="•"/>
              <a:tabLst>
                <a:tab pos="299085" algn="l"/>
              </a:tabLst>
            </a:pPr>
            <a:r>
              <a:rPr sz="1400" dirty="0">
                <a:solidFill>
                  <a:srgbClr val="5E5C5D"/>
                </a:solidFill>
                <a:latin typeface="Calibri"/>
                <a:cs typeface="Calibri"/>
              </a:rPr>
              <a:t>F</a:t>
            </a:r>
            <a:r>
              <a:rPr lang="es-ES" sz="1400" dirty="0">
                <a:solidFill>
                  <a:srgbClr val="5E5C5D"/>
                </a:solidFill>
                <a:latin typeface="Calibri"/>
                <a:cs typeface="Calibri"/>
              </a:rPr>
              <a:t>a</a:t>
            </a:r>
            <a:r>
              <a:rPr sz="1400" dirty="0">
                <a:solidFill>
                  <a:srgbClr val="5E5C5D"/>
                </a:solidFill>
                <a:latin typeface="Calibri"/>
                <a:cs typeface="Calibri"/>
              </a:rPr>
              <a:t>l</a:t>
            </a:r>
            <a:r>
              <a:rPr lang="es-ES" sz="1400" dirty="0">
                <a:solidFill>
                  <a:srgbClr val="5E5C5D"/>
                </a:solidFill>
                <a:latin typeface="Calibri"/>
                <a:cs typeface="Calibri"/>
              </a:rPr>
              <a:t>la del sistema</a:t>
            </a:r>
            <a:endParaRPr sz="1400" dirty="0">
              <a:latin typeface="Calibri"/>
              <a:cs typeface="Calibri"/>
            </a:endParaRPr>
          </a:p>
          <a:p>
            <a:pPr marL="299085" indent="-286385">
              <a:lnSpc>
                <a:spcPct val="100000"/>
              </a:lnSpc>
              <a:buFont typeface="Arial MT"/>
              <a:buChar char="•"/>
              <a:tabLst>
                <a:tab pos="299085" algn="l"/>
              </a:tabLst>
            </a:pPr>
            <a:r>
              <a:rPr lang="es-ES" sz="1400" spc="-10" dirty="0">
                <a:solidFill>
                  <a:srgbClr val="5E5C5D"/>
                </a:solidFill>
                <a:latin typeface="Calibri"/>
                <a:cs typeface="Calibri"/>
              </a:rPr>
              <a:t>Posible perdida de datos</a:t>
            </a:r>
            <a:endParaRPr sz="1400" dirty="0">
              <a:latin typeface="Calibri"/>
              <a:cs typeface="Calibri"/>
            </a:endParaRPr>
          </a:p>
          <a:p>
            <a:pPr marL="299085" indent="-286385">
              <a:lnSpc>
                <a:spcPct val="100000"/>
              </a:lnSpc>
              <a:buFont typeface="Arial MT"/>
              <a:buChar char="•"/>
              <a:tabLst>
                <a:tab pos="299085" algn="l"/>
              </a:tabLst>
            </a:pPr>
            <a:r>
              <a:rPr sz="1400" spc="-10" dirty="0">
                <a:solidFill>
                  <a:srgbClr val="5E5C5D"/>
                </a:solidFill>
                <a:latin typeface="Calibri"/>
                <a:cs typeface="Calibri"/>
              </a:rPr>
              <a:t>Resistencia</a:t>
            </a:r>
            <a:r>
              <a:rPr sz="1400" spc="50" dirty="0">
                <a:solidFill>
                  <a:srgbClr val="5E5C5D"/>
                </a:solidFill>
                <a:latin typeface="Calibri"/>
                <a:cs typeface="Calibri"/>
              </a:rPr>
              <a:t> </a:t>
            </a:r>
            <a:r>
              <a:rPr sz="1400" dirty="0">
                <a:solidFill>
                  <a:srgbClr val="5E5C5D"/>
                </a:solidFill>
                <a:latin typeface="Calibri"/>
                <a:cs typeface="Calibri"/>
              </a:rPr>
              <a:t>al</a:t>
            </a:r>
            <a:r>
              <a:rPr sz="1400" spc="-15" dirty="0">
                <a:solidFill>
                  <a:srgbClr val="5E5C5D"/>
                </a:solidFill>
                <a:latin typeface="Calibri"/>
                <a:cs typeface="Calibri"/>
              </a:rPr>
              <a:t> </a:t>
            </a:r>
            <a:r>
              <a:rPr lang="es-CO" sz="1400" spc="-10" dirty="0">
                <a:solidFill>
                  <a:srgbClr val="5E5C5D"/>
                </a:solidFill>
                <a:latin typeface="Calibri"/>
                <a:cs typeface="Calibri"/>
              </a:rPr>
              <a:t>Cambio</a:t>
            </a:r>
            <a:endParaRPr sz="1400" dirty="0">
              <a:latin typeface="Calibri"/>
              <a:cs typeface="Calibri"/>
            </a:endParaRPr>
          </a:p>
          <a:p>
            <a:pPr marL="299085" indent="-286385">
              <a:lnSpc>
                <a:spcPct val="100000"/>
              </a:lnSpc>
              <a:buFont typeface="Arial MT"/>
              <a:buChar char="•"/>
              <a:tabLst>
                <a:tab pos="299085" algn="l"/>
              </a:tabLst>
            </a:pPr>
            <a:r>
              <a:rPr sz="1400" dirty="0">
                <a:solidFill>
                  <a:srgbClr val="5E5C5D"/>
                </a:solidFill>
                <a:latin typeface="Calibri"/>
                <a:cs typeface="Calibri"/>
              </a:rPr>
              <a:t>Fallas</a:t>
            </a:r>
            <a:r>
              <a:rPr sz="1400" spc="-20" dirty="0">
                <a:solidFill>
                  <a:srgbClr val="5E5C5D"/>
                </a:solidFill>
                <a:latin typeface="Calibri"/>
                <a:cs typeface="Calibri"/>
              </a:rPr>
              <a:t> </a:t>
            </a:r>
            <a:r>
              <a:rPr sz="1400" dirty="0">
                <a:solidFill>
                  <a:srgbClr val="5E5C5D"/>
                </a:solidFill>
                <a:latin typeface="Calibri"/>
                <a:cs typeface="Calibri"/>
              </a:rPr>
              <a:t>en</a:t>
            </a:r>
            <a:r>
              <a:rPr sz="1400" spc="-40" dirty="0">
                <a:solidFill>
                  <a:srgbClr val="5E5C5D"/>
                </a:solidFill>
                <a:latin typeface="Calibri"/>
                <a:cs typeface="Calibri"/>
              </a:rPr>
              <a:t> </a:t>
            </a:r>
            <a:r>
              <a:rPr sz="1400" dirty="0">
                <a:solidFill>
                  <a:srgbClr val="5E5C5D"/>
                </a:solidFill>
                <a:latin typeface="Calibri"/>
                <a:cs typeface="Calibri"/>
              </a:rPr>
              <a:t>los</a:t>
            </a:r>
            <a:r>
              <a:rPr sz="1400" spc="-40" dirty="0">
                <a:solidFill>
                  <a:srgbClr val="5E5C5D"/>
                </a:solidFill>
                <a:latin typeface="Calibri"/>
                <a:cs typeface="Calibri"/>
              </a:rPr>
              <a:t> </a:t>
            </a:r>
            <a:r>
              <a:rPr sz="1400" dirty="0">
                <a:solidFill>
                  <a:srgbClr val="5E5C5D"/>
                </a:solidFill>
                <a:latin typeface="Calibri"/>
                <a:cs typeface="Calibri"/>
              </a:rPr>
              <a:t>servicios</a:t>
            </a:r>
            <a:r>
              <a:rPr sz="1400" spc="-20" dirty="0">
                <a:solidFill>
                  <a:srgbClr val="5E5C5D"/>
                </a:solidFill>
                <a:latin typeface="Calibri"/>
                <a:cs typeface="Calibri"/>
              </a:rPr>
              <a:t> </a:t>
            </a:r>
            <a:r>
              <a:rPr sz="1400" spc="-10" dirty="0">
                <a:solidFill>
                  <a:srgbClr val="5E5C5D"/>
                </a:solidFill>
                <a:latin typeface="Calibri"/>
                <a:cs typeface="Calibri"/>
              </a:rPr>
              <a:t>básicos</a:t>
            </a:r>
            <a:endParaRPr sz="1400" dirty="0">
              <a:latin typeface="Calibri"/>
              <a:cs typeface="Calibri"/>
            </a:endParaRPr>
          </a:p>
          <a:p>
            <a:pPr marL="299085" indent="-286385">
              <a:lnSpc>
                <a:spcPct val="100000"/>
              </a:lnSpc>
              <a:spcBef>
                <a:spcPts val="5"/>
              </a:spcBef>
              <a:buFont typeface="Arial MT"/>
              <a:buChar char="•"/>
              <a:tabLst>
                <a:tab pos="299085" algn="l"/>
              </a:tabLst>
            </a:pPr>
            <a:r>
              <a:rPr sz="1400" dirty="0">
                <a:solidFill>
                  <a:srgbClr val="5E5C5D"/>
                </a:solidFill>
                <a:latin typeface="Calibri"/>
                <a:cs typeface="Calibri"/>
              </a:rPr>
              <a:t>Falta</a:t>
            </a:r>
            <a:r>
              <a:rPr sz="1400" spc="-15" dirty="0">
                <a:solidFill>
                  <a:srgbClr val="5E5C5D"/>
                </a:solidFill>
                <a:latin typeface="Calibri"/>
                <a:cs typeface="Calibri"/>
              </a:rPr>
              <a:t> </a:t>
            </a:r>
            <a:r>
              <a:rPr sz="1400" dirty="0">
                <a:solidFill>
                  <a:srgbClr val="5E5C5D"/>
                </a:solidFill>
                <a:latin typeface="Calibri"/>
                <a:cs typeface="Calibri"/>
              </a:rPr>
              <a:t>de</a:t>
            </a:r>
            <a:r>
              <a:rPr sz="1400" spc="-40" dirty="0">
                <a:solidFill>
                  <a:srgbClr val="5E5C5D"/>
                </a:solidFill>
                <a:latin typeface="Calibri"/>
                <a:cs typeface="Calibri"/>
              </a:rPr>
              <a:t> </a:t>
            </a:r>
            <a:r>
              <a:rPr sz="1400" dirty="0">
                <a:solidFill>
                  <a:srgbClr val="5E5C5D"/>
                </a:solidFill>
                <a:latin typeface="Calibri"/>
                <a:cs typeface="Calibri"/>
              </a:rPr>
              <a:t>servicios</a:t>
            </a:r>
            <a:r>
              <a:rPr sz="1400" spc="-25" dirty="0">
                <a:solidFill>
                  <a:srgbClr val="5E5C5D"/>
                </a:solidFill>
                <a:latin typeface="Calibri"/>
                <a:cs typeface="Calibri"/>
              </a:rPr>
              <a:t> </a:t>
            </a:r>
            <a:r>
              <a:rPr sz="1400" spc="-10" dirty="0">
                <a:solidFill>
                  <a:srgbClr val="5E5C5D"/>
                </a:solidFill>
                <a:latin typeface="Calibri"/>
                <a:cs typeface="Calibri"/>
              </a:rPr>
              <a:t>complementarios</a:t>
            </a:r>
            <a:endParaRPr sz="1400" dirty="0">
              <a:latin typeface="Calibri"/>
              <a:cs typeface="Calibri"/>
            </a:endParaRPr>
          </a:p>
          <a:p>
            <a:pPr marL="299085" indent="-286385">
              <a:lnSpc>
                <a:spcPct val="100000"/>
              </a:lnSpc>
              <a:buFont typeface="Arial MT"/>
              <a:buChar char="•"/>
              <a:tabLst>
                <a:tab pos="299085" algn="l"/>
              </a:tabLst>
            </a:pPr>
            <a:r>
              <a:rPr sz="1400" spc="-10" dirty="0">
                <a:solidFill>
                  <a:srgbClr val="5E5C5D"/>
                </a:solidFill>
                <a:latin typeface="Calibri"/>
                <a:cs typeface="Calibri"/>
              </a:rPr>
              <a:t>Pérdida</a:t>
            </a:r>
            <a:r>
              <a:rPr sz="1400" dirty="0">
                <a:solidFill>
                  <a:srgbClr val="5E5C5D"/>
                </a:solidFill>
                <a:latin typeface="Calibri"/>
                <a:cs typeface="Calibri"/>
              </a:rPr>
              <a:t> de</a:t>
            </a:r>
            <a:r>
              <a:rPr sz="1400" spc="-40" dirty="0">
                <a:solidFill>
                  <a:srgbClr val="5E5C5D"/>
                </a:solidFill>
                <a:latin typeface="Calibri"/>
                <a:cs typeface="Calibri"/>
              </a:rPr>
              <a:t> </a:t>
            </a:r>
            <a:r>
              <a:rPr sz="1400" dirty="0">
                <a:solidFill>
                  <a:srgbClr val="5E5C5D"/>
                </a:solidFill>
                <a:latin typeface="Calibri"/>
                <a:cs typeface="Calibri"/>
              </a:rPr>
              <a:t>personal</a:t>
            </a:r>
            <a:r>
              <a:rPr sz="1400" spc="-25" dirty="0">
                <a:solidFill>
                  <a:srgbClr val="5E5C5D"/>
                </a:solidFill>
                <a:latin typeface="Calibri"/>
                <a:cs typeface="Calibri"/>
              </a:rPr>
              <a:t> </a:t>
            </a:r>
            <a:r>
              <a:rPr sz="1400" spc="-10" dirty="0">
                <a:solidFill>
                  <a:srgbClr val="5E5C5D"/>
                </a:solidFill>
                <a:latin typeface="Calibri"/>
                <a:cs typeface="Calibri"/>
              </a:rPr>
              <a:t>clave</a:t>
            </a:r>
            <a:endParaRPr sz="14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61247" y="4997424"/>
            <a:ext cx="593725" cy="100965"/>
          </a:xfrm>
          <a:prstGeom prst="rect">
            <a:avLst/>
          </a:prstGeom>
        </p:spPr>
        <p:txBody>
          <a:bodyPr vert="horz" wrap="square" lIns="0" tIns="0" rIns="0" bIns="0" rtlCol="0">
            <a:spAutoFit/>
          </a:bodyPr>
          <a:lstStyle/>
          <a:p>
            <a:pPr>
              <a:lnSpc>
                <a:spcPts val="755"/>
              </a:lnSpc>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37904" cy="5145022"/>
          </a:xfrm>
          <a:prstGeom prst="rect">
            <a:avLst/>
          </a:prstGeom>
        </p:spPr>
      </p:pic>
      <p:sp>
        <p:nvSpPr>
          <p:cNvPr id="4" name="object 4"/>
          <p:cNvSpPr txBox="1"/>
          <p:nvPr/>
        </p:nvSpPr>
        <p:spPr>
          <a:xfrm>
            <a:off x="612444" y="2028570"/>
            <a:ext cx="1883410" cy="757555"/>
          </a:xfrm>
          <a:prstGeom prst="rect">
            <a:avLst/>
          </a:prstGeom>
        </p:spPr>
        <p:txBody>
          <a:bodyPr vert="horz" wrap="square" lIns="0" tIns="12700" rIns="0" bIns="0" rtlCol="0">
            <a:spAutoFit/>
          </a:bodyPr>
          <a:lstStyle/>
          <a:p>
            <a:pPr marL="12700" marR="5080">
              <a:lnSpc>
                <a:spcPct val="100000"/>
              </a:lnSpc>
              <a:spcBef>
                <a:spcPts val="100"/>
              </a:spcBef>
            </a:pPr>
            <a:r>
              <a:rPr sz="2400" b="1" dirty="0">
                <a:solidFill>
                  <a:srgbClr val="FFFFFF"/>
                </a:solidFill>
                <a:latin typeface="Calibri"/>
                <a:cs typeface="Calibri"/>
              </a:rPr>
              <a:t>PRODUCTOS</a:t>
            </a:r>
            <a:r>
              <a:rPr sz="2400" b="1" spc="-105" dirty="0">
                <a:solidFill>
                  <a:srgbClr val="FFFFFF"/>
                </a:solidFill>
                <a:latin typeface="Calibri"/>
                <a:cs typeface="Calibri"/>
              </a:rPr>
              <a:t> </a:t>
            </a:r>
            <a:r>
              <a:rPr sz="2400" b="1" spc="-50" dirty="0">
                <a:solidFill>
                  <a:srgbClr val="FFFFFF"/>
                </a:solidFill>
                <a:latin typeface="Calibri"/>
                <a:cs typeface="Calibri"/>
              </a:rPr>
              <a:t>O </a:t>
            </a:r>
            <a:r>
              <a:rPr sz="2400" b="1" spc="-10" dirty="0">
                <a:solidFill>
                  <a:srgbClr val="FFFFFF"/>
                </a:solidFill>
                <a:latin typeface="Calibri"/>
                <a:cs typeface="Calibri"/>
              </a:rPr>
              <a:t>RESULTADOS</a:t>
            </a:r>
            <a:endParaRPr sz="2400">
              <a:latin typeface="Calibri"/>
              <a:cs typeface="Calibri"/>
            </a:endParaRPr>
          </a:p>
        </p:txBody>
      </p:sp>
      <p:sp>
        <p:nvSpPr>
          <p:cNvPr id="5" name="object 5"/>
          <p:cNvSpPr/>
          <p:nvPr/>
        </p:nvSpPr>
        <p:spPr>
          <a:xfrm>
            <a:off x="612647" y="1770889"/>
            <a:ext cx="990600" cy="48895"/>
          </a:xfrm>
          <a:custGeom>
            <a:avLst/>
            <a:gdLst/>
            <a:ahLst/>
            <a:cxnLst/>
            <a:rect l="l" t="t" r="r" b="b"/>
            <a:pathLst>
              <a:path w="990600" h="48894">
                <a:moveTo>
                  <a:pt x="0" y="0"/>
                </a:moveTo>
                <a:lnTo>
                  <a:pt x="0" y="48766"/>
                </a:lnTo>
                <a:lnTo>
                  <a:pt x="990578" y="48767"/>
                </a:lnTo>
                <a:lnTo>
                  <a:pt x="990578" y="0"/>
                </a:lnTo>
                <a:lnTo>
                  <a:pt x="0" y="0"/>
                </a:lnTo>
                <a:close/>
              </a:path>
            </a:pathLst>
          </a:custGeom>
          <a:solidFill>
            <a:srgbClr val="FFFFFF"/>
          </a:solidFill>
        </p:spPr>
        <p:txBody>
          <a:bodyPr wrap="square" lIns="0" tIns="0" rIns="0" bIns="0" rtlCol="0"/>
          <a:lstStyle/>
          <a:p>
            <a:endParaRPr/>
          </a:p>
        </p:txBody>
      </p:sp>
      <p:sp>
        <p:nvSpPr>
          <p:cNvPr id="6" name="object 6"/>
          <p:cNvSpPr txBox="1">
            <a:spLocks noGrp="1"/>
          </p:cNvSpPr>
          <p:nvPr>
            <p:ph type="ctrTitle"/>
          </p:nvPr>
        </p:nvSpPr>
        <p:spPr>
          <a:xfrm>
            <a:off x="4364482" y="1652777"/>
            <a:ext cx="3728084" cy="442429"/>
          </a:xfrm>
          <a:prstGeom prst="rect">
            <a:avLst/>
          </a:prstGeom>
        </p:spPr>
        <p:txBody>
          <a:bodyPr vert="horz" wrap="square" lIns="0" tIns="11430" rIns="0" bIns="0" rtlCol="0">
            <a:spAutoFit/>
          </a:bodyPr>
          <a:lstStyle/>
          <a:p>
            <a:pPr marL="12700" marR="5080">
              <a:lnSpc>
                <a:spcPct val="100000"/>
              </a:lnSpc>
              <a:spcBef>
                <a:spcPts val="90"/>
              </a:spcBef>
            </a:pPr>
            <a:r>
              <a:rPr lang="es-ES" sz="1400" b="0" spc="-10" dirty="0">
                <a:solidFill>
                  <a:srgbClr val="5E5C5D"/>
                </a:solidFill>
              </a:rPr>
              <a:t>Generar ganancia y clientes para los desarrolladores de </a:t>
            </a:r>
            <a:r>
              <a:rPr lang="es-ES" sz="1400" dirty="0">
                <a:solidFill>
                  <a:schemeClr val="tx1"/>
                </a:solidFill>
                <a:latin typeface="Calibri"/>
                <a:cs typeface="Calibri"/>
              </a:rPr>
              <a:t>Chekinpro</a:t>
            </a:r>
            <a:r>
              <a:rPr sz="1400" b="0" spc="-10" dirty="0">
                <a:solidFill>
                  <a:srgbClr val="5E5C5D"/>
                </a:solidFill>
                <a:latin typeface="Calibri"/>
                <a:cs typeface="Calibri"/>
              </a:rPr>
              <a:t>.</a:t>
            </a:r>
            <a:endParaRPr sz="1400" dirty="0">
              <a:latin typeface="Calibri"/>
              <a:cs typeface="Calibri"/>
            </a:endParaRPr>
          </a:p>
        </p:txBody>
      </p:sp>
      <p:sp>
        <p:nvSpPr>
          <p:cNvPr id="7" name="object 7"/>
          <p:cNvSpPr txBox="1"/>
          <p:nvPr/>
        </p:nvSpPr>
        <p:spPr>
          <a:xfrm>
            <a:off x="4364482" y="2293111"/>
            <a:ext cx="3731895" cy="442429"/>
          </a:xfrm>
          <a:prstGeom prst="rect">
            <a:avLst/>
          </a:prstGeom>
        </p:spPr>
        <p:txBody>
          <a:bodyPr vert="horz" wrap="square" lIns="0" tIns="11430" rIns="0" bIns="0" rtlCol="0">
            <a:spAutoFit/>
          </a:bodyPr>
          <a:lstStyle/>
          <a:p>
            <a:pPr marL="12700" marR="5080" algn="just">
              <a:lnSpc>
                <a:spcPct val="100000"/>
              </a:lnSpc>
              <a:spcBef>
                <a:spcPts val="90"/>
              </a:spcBef>
            </a:pPr>
            <a:r>
              <a:rPr lang="es-ES" sz="1400" spc="-10" dirty="0">
                <a:solidFill>
                  <a:srgbClr val="5E5C5D"/>
                </a:solidFill>
                <a:latin typeface="Calibri"/>
                <a:cs typeface="Calibri"/>
              </a:rPr>
              <a:t>Ganando reputación y puntuación el régimen de hotelería</a:t>
            </a:r>
            <a:r>
              <a:rPr sz="1400" spc="-10" dirty="0">
                <a:solidFill>
                  <a:srgbClr val="5E5C5D"/>
                </a:solidFill>
                <a:latin typeface="Calibri"/>
                <a:cs typeface="Calibri"/>
              </a:rPr>
              <a:t>.</a:t>
            </a:r>
            <a:endParaRPr sz="140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48547" y="4959502"/>
            <a:ext cx="619125" cy="146685"/>
          </a:xfrm>
          <a:prstGeom prst="rect">
            <a:avLst/>
          </a:prstGeom>
        </p:spPr>
        <p:txBody>
          <a:bodyPr vert="horz" wrap="square" lIns="0" tIns="12065" rIns="0" bIns="0" rtlCol="0">
            <a:spAutoFit/>
          </a:bodyPr>
          <a:lstStyle/>
          <a:p>
            <a:pPr marL="12700">
              <a:lnSpc>
                <a:spcPct val="100000"/>
              </a:lnSpc>
              <a:spcBef>
                <a:spcPts val="95"/>
              </a:spcBef>
            </a:pPr>
            <a:r>
              <a:rPr sz="800" b="1" spc="-20" dirty="0">
                <a:solidFill>
                  <a:srgbClr val="7E7E7E"/>
                </a:solidFill>
                <a:latin typeface="Calibri"/>
                <a:cs typeface="Calibri"/>
              </a:rPr>
              <a:t>GC-</a:t>
            </a:r>
            <a:r>
              <a:rPr sz="800" b="1" spc="-10" dirty="0">
                <a:solidFill>
                  <a:srgbClr val="7E7E7E"/>
                </a:solidFill>
                <a:latin typeface="Calibri"/>
                <a:cs typeface="Calibri"/>
              </a:rPr>
              <a:t>F-</a:t>
            </a:r>
            <a:r>
              <a:rPr sz="800" b="1" dirty="0">
                <a:solidFill>
                  <a:srgbClr val="7E7E7E"/>
                </a:solidFill>
                <a:latin typeface="Calibri"/>
                <a:cs typeface="Calibri"/>
              </a:rPr>
              <a:t>004</a:t>
            </a:r>
            <a:r>
              <a:rPr sz="800" b="1" spc="25" dirty="0">
                <a:solidFill>
                  <a:srgbClr val="7E7E7E"/>
                </a:solidFill>
                <a:latin typeface="Calibri"/>
                <a:cs typeface="Calibri"/>
              </a:rPr>
              <a:t> </a:t>
            </a:r>
            <a:r>
              <a:rPr sz="800" b="1" spc="-20" dirty="0">
                <a:solidFill>
                  <a:srgbClr val="7E7E7E"/>
                </a:solidFill>
                <a:latin typeface="Calibri"/>
                <a:cs typeface="Calibri"/>
              </a:rPr>
              <a:t>V.01</a:t>
            </a:r>
            <a:endParaRPr sz="800">
              <a:latin typeface="Calibri"/>
              <a:cs typeface="Calibri"/>
            </a:endParaRPr>
          </a:p>
        </p:txBody>
      </p:sp>
      <p:pic>
        <p:nvPicPr>
          <p:cNvPr id="3" name="object 3"/>
          <p:cNvPicPr/>
          <p:nvPr/>
        </p:nvPicPr>
        <p:blipFill>
          <a:blip r:embed="rId2" cstate="print"/>
          <a:stretch>
            <a:fillRect/>
          </a:stretch>
        </p:blipFill>
        <p:spPr>
          <a:xfrm>
            <a:off x="0" y="0"/>
            <a:ext cx="9144000" cy="514502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325</TotalTime>
  <Words>889</Words>
  <Application>Microsoft Office PowerPoint</Application>
  <PresentationFormat>Personalizado</PresentationFormat>
  <Paragraphs>94</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 MT</vt:lpstr>
      <vt:lpstr>Calibri</vt:lpstr>
      <vt:lpstr>Wingdings</vt:lpstr>
      <vt:lpstr>Office Theme</vt:lpstr>
      <vt:lpstr>FORMULACIÓN DE PROYECTO ADSO </vt:lpstr>
      <vt:lpstr>PERSONAL DE TRABAJO </vt:lpstr>
      <vt:lpstr>Presentación de PowerPoint</vt:lpstr>
      <vt:lpstr>Presentación de PowerPoint</vt:lpstr>
      <vt:lpstr>JUSTIFICACIÓN DEL PROYECTO</vt:lpstr>
      <vt:lpstr>Chekinpro </vt:lpstr>
      <vt:lpstr>Presentación de PowerPoint</vt:lpstr>
      <vt:lpstr>ALCANCE DEL PROYECTO</vt:lpstr>
      <vt:lpstr>Los beneficiarios de este proyecto son tanto los creadores como los  hoteles .</vt:lpstr>
      <vt:lpstr>Abarca en:</vt:lpstr>
      <vt:lpstr>Como cualquier empresa, los proyectos necesitan ser  ejecutados  y  entregados  bajo  ciertas restricciones. Tradicionalmente, estas restricciones han sido alcance, tiempo y costo.</vt:lpstr>
      <vt:lpstr>Las posibles perdidas o riesgos q se pueden encontrar en Chekinpro son.</vt:lpstr>
      <vt:lpstr>Generar ganancia y clientes para los desarrolladores de Chekinpro.</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Administrador</dc:creator>
  <cp:lastModifiedBy>SENA</cp:lastModifiedBy>
  <cp:revision>14</cp:revision>
  <dcterms:created xsi:type="dcterms:W3CDTF">2024-12-03T12:03:56Z</dcterms:created>
  <dcterms:modified xsi:type="dcterms:W3CDTF">2026-04-07T12:39:48Z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2017-11-17T00:00:00Z</vt:filetime>
  </property>
  <property fmtid="{D5CDD505-2E9C-101B-9397-08002B2CF9AE}" pid="3" name="Creator">
    <vt:lpwstr>Microsoft® PowerPoint® 2016</vt:lpwstr>
  </property>
  <property fmtid="{D5CDD505-2E9C-101B-9397-08002B2CF9AE}" pid="4" name="LastSaved">
    <vt:filetime>2024-12-03T00:00:00Z</vt:filetime>
  </property>
  <property fmtid="{D5CDD505-2E9C-101B-9397-08002B2CF9AE}" pid="5" name="Producer">
    <vt:lpwstr>Microsoft® PowerPoint® 2016</vt:lpwstr>
  </property>
</Properties>
</file>